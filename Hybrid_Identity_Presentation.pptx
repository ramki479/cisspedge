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class to today's presentation on Hybrid Identity with Active Directory and Microsoft 365 using Microsoft Entra Connect.</a:t>
            </a:r>
          </a:p>
          <a:p/>
          <a:p>
            <a:r>
              <a:t>In this session, we will cover how modern corporate networks bridge their local physical infrastructure with the cloud. This is a critical skill for any systems administrator or security professional.</a:t>
            </a:r>
          </a:p>
          <a:p/>
          <a:p>
            <a:r>
              <a:t>We will go slide by slide through the architectural design, setup requirements, active directory changes, and verification tests we ran in our classroom laboratory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let's establish: What is Hybrid Identity?</a:t>
            </a:r>
          </a:p>
          <a:p/>
          <a:p>
            <a:r>
              <a:t>For decades, companies have used Windows Active Directory Domain Services (AD DS) locally to secure their local servers, workstations, printers, and file shares. But today, companies also use SaaS platforms like Microsoft 365, Teams, and SharePoint online.</a:t>
            </a:r>
          </a:p>
          <a:p/>
          <a:p>
            <a:r>
              <a:t>If you don't connect these environments, administrators must create accounts twice: once in the local AD, and once in Microsoft 365. This leads to configuration discrepancies, forgotten credentials, and security holes.</a:t>
            </a:r>
          </a:p>
          <a:p/>
          <a:p>
            <a:r>
              <a:t>Hybrid Identity links them together, making Active Directory the authoritative source of truth. Entra Connect copies user accounts to Microsoft Entra ID (the cloud directory) so they are mirrored.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this presentation in reality, we built a physical/virtual laboratory replicating a typical business office branch network.</a:t>
            </a:r>
          </a:p>
          <a:p/>
          <a:p>
            <a:r>
              <a:t>We set up two domain controllers. DC01 serves as our primary server where we hold the key FSMO roles and Active Directory databases. DC02 is a replica for fault tolerance and DNS redundancy.</a:t>
            </a:r>
          </a:p>
          <a:p/>
          <a:p>
            <a:r>
              <a:t>The local domain name we selected is 'LFI-AD.local'. We also pre-created 4 test users, user01 through user04, so we could track their progress from local-only accounts to fully active, licensed cloud accounts.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early days of IT administration, it was a common best practice to configure internal domains using the '.local' or '.internal' suffix.</a:t>
            </a:r>
          </a:p>
          <a:p/>
          <a:p>
            <a:r>
              <a:t>This isolated internal DNS traffic. But as the industry shifted to public cloud platforms, this created a major obstacle. Suffixes like 'LFI-AD.local' are private, non-routable, and unregistered. No public DNS registrar recognizes them.</a:t>
            </a:r>
          </a:p>
          <a:p/>
          <a:p>
            <a:r>
              <a:t>When we hook up Microsoft 365, it needs to verify we actually own the domain names we want to sign in with. Since nobody owns '.local' on the internet, Microsoft cannot verify it.</a:t>
            </a:r>
          </a:p>
          <a:p/>
          <a:p>
            <a:r>
              <a:t>If we sync a user with a UPN of '@LFI-AD.local', Microsoft Entra ID will say: 'I don't recognize this domain,' and it will automatically rename the user in the cloud to use the fallback '@onmicrosoft.com' suffix, which destroys the Single Sign-On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resolve the non-routable issue, we must perform a UPN Suffix Change in Active Directory.</a:t>
            </a:r>
          </a:p>
          <a:p/>
          <a:p>
            <a:r>
              <a:t>The User Principal Name, or UPN, is the modern logon name format in Windows. It consists of the user's login ID followed by an '@' sign and a domain name.</a:t>
            </a:r>
          </a:p>
          <a:p/>
          <a:p>
            <a:r>
              <a:t>By default, our users had the suffix '@LFI-AD.local'. In this preparation phase, we went into the 'Active Directory Domains and Trusts' console on DC01.</a:t>
            </a:r>
          </a:p>
          <a:p/>
          <a:p>
            <a:r>
              <a:t>Under properties, we added our custom public domain 'cybertron.site' as a secondary suffix.</a:t>
            </a:r>
          </a:p>
          <a:p/>
          <a:p>
            <a:r>
              <a:t>Next, we went into 'AD Users and Computers' and edited the properties of User01 through User04. Using the account tab, we changed their login suffixes from '@LFI-AD.local' to '@cybertron.site'. This changes their UPN to match the routable public domain, prepping them for a seamless sync.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have prepped the local Active Directory, we need a landing spot in the cloud. We signed up for the Microsoft 365 Developer Program.</a:t>
            </a:r>
          </a:p>
          <a:p/>
          <a:p>
            <a:r>
              <a:t>This program is free and provisions a full enterprise-grade tenant: 'lfilab.onmicrosoft.com'. Inside, we get an admin account with the Global Administrator role.</a:t>
            </a:r>
          </a:p>
          <a:p/>
          <a:p>
            <a:r>
              <a:t>Crucially, it includes 25 Microsoft 365 E5 developer licenses. The E5 level is Microsoft's top tier, and it unlocks Microsoft Entra ID Premium P2 functionality. Having P2 features is critical because it supports advanced hybrid identity features like Group-Based Licensing, Password Protection policies, and detailed sync reporting.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discuss the Domain Verification Process.</a:t>
            </a:r>
          </a:p>
          <a:p/>
          <a:p>
            <a:r>
              <a:t>If you want to use your custom domain (like cybertron.site) in Microsoft 365, Microsoft has to confirm that you actually own it. This prevents malicious actors from hijacking domain names.</a:t>
            </a:r>
          </a:p>
          <a:p/>
          <a:p>
            <a:r>
              <a:t>Microsoft accomplishes this by checking the domain's public Domain Name System (DNS) records.</a:t>
            </a:r>
          </a:p>
          <a:p/>
          <a:p>
            <a:r>
              <a:t>We managed the DNS for cybertron.site through Cloudflare. Inside the Microsoft 365 Admin Portal, we added cybertron.site. Microsoft generated a random TXT record value starting with 'MS='.</a:t>
            </a:r>
          </a:p>
          <a:p/>
          <a:p>
            <a:r>
              <a:t>We copied this record, created a corresponding TXT record in Cloudflare, and clicked 'Verify'. Microsoft's global DNS crawler detected the change and authorized the domain.</a:t>
            </a:r>
          </a:p>
          <a:p/>
          <a:p>
            <a:r>
              <a:t>Once verified, we added the other vital DNS records: MX for routing Exchange email, SPF TXT records for mail security, and a CNAME record for automated client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introduce the core technology of our setup: Microsoft Entra Connect (formerly Azure AD Connect).</a:t>
            </a:r>
          </a:p>
          <a:p/>
          <a:p>
            <a:r>
              <a:t>Entra Connect is a software application installed locally on DC01 or a dedicated standalone application server. It communicates with local domain controllers using LDAP protocols, queries the AD database, and compares it with Microsoft Entra ID (the cloud directory).</a:t>
            </a:r>
          </a:p>
          <a:p/>
          <a:p>
            <a:r>
              <a:t>It synchronizes objects, ensuring metadata matches.</a:t>
            </a:r>
          </a:p>
          <a:p/>
          <a:p>
            <a:r>
              <a:t>It's highly important to understand that in a default hybrid identity deployment, the sync is one-way. Active Directory on-premises is the authoritative source. If an administrator edits a synced user's name directly in the cloud portal, the cloud will reject the change or overwrite it on the next sync run. All identity management must remain on-premises.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major features of Entra Connect is its sign-in integration method. We selected 'Password Hash Synchronization', or PHS.</a:t>
            </a:r>
          </a:p>
          <a:p/>
          <a:p>
            <a:r>
              <a:t>PHS is extremely popular because it's simple to configure and highly secure.</a:t>
            </a:r>
          </a:p>
          <a:p/>
          <a:p>
            <a:r>
              <a:t>When a user signs in, they want to use their local password. To make this work, Entra Connect queries the Active Directory database (specifically the NTLM hash of the password).</a:t>
            </a:r>
          </a:p>
          <a:p/>
          <a:p>
            <a:r>
              <a:t>It takes that NTLM hash, salts it, hashes it again using SHA-256, and loops this 1000 times. It then sends this final hash to the cloud directory.</a:t>
            </a:r>
          </a:p>
          <a:p/>
          <a:p>
            <a:r>
              <a:t>The cleartext password is never exposed. The cloud only stores a mathematical representation. If a user tries to log in to Office 365, the cloud hashes their input password and compares it to the stored hash. If they match, they are authenticated.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operational mechanics: How does the synchronization process actually occur?</a:t>
            </a:r>
          </a:p>
          <a:p/>
          <a:p>
            <a:r>
              <a:t>When Entra Connect is installed, it establishes a Windows Service scheduler. By default, this scheduler runs every 30 minutes.</a:t>
            </a:r>
          </a:p>
          <a:p/>
          <a:p>
            <a:r>
              <a:t>To save bandwidth and processing power, it does a 'Delta Sync'—it queries the Active Directory USN journal to check only for attributes that have changed since the last sync.</a:t>
            </a:r>
          </a:p>
          <a:p/>
          <a:p>
            <a:r>
              <a:t>If we create a user, change a user's phone number, or delete a group, it finds that change and pushes it.</a:t>
            </a:r>
          </a:p>
          <a:p/>
          <a:p>
            <a:r>
              <a:t>If you are a sysadmin who just created a user and needs them in the cloud immediately, you don't want to wait 30 minutes.</a:t>
            </a:r>
          </a:p>
          <a:p/>
          <a:p>
            <a:r>
              <a:t>You can log into the sync server, open PowerShell, import the ADSync module, and run the command: 'Start-ADSyncSyncCycle -PolicyType Delta'. This triggers an immediate out-of-band sync, pushing the changes to Microsoft 365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check: Did it work?</a:t>
            </a:r>
          </a:p>
          <a:p/>
          <a:p>
            <a:r>
              <a:t>To verify, we logged into the Microsoft 365 Admin Center at admin.microsoft.com as our Global Administrator.</a:t>
            </a:r>
          </a:p>
          <a:p/>
          <a:p>
            <a:r>
              <a:t>We navigated to the 'Active Users' section.</a:t>
            </a:r>
          </a:p>
          <a:p/>
          <a:p>
            <a:r>
              <a:t>Sure enough, we saw User 01, User 02, User 03, and User 04 populate the list.</a:t>
            </a:r>
          </a:p>
          <a:p/>
          <a:p>
            <a:r>
              <a:t>Instead of showing a cloud-only icon, the 'Sync status' column explicitly stated: 'Synced from on-premises'.</a:t>
            </a:r>
          </a:p>
          <a:p/>
          <a:p>
            <a:r>
              <a:t>If you select one of these synced users and attempt to change their display name or edit their password in the M365 Portal, a notice pops up informing you that modifications are blocked. The cloud directory respects the local AD's authority, meaning you must edit them using Active Directory tools on DC01.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addresses a common point of confusion for beginners: Identity versus licensing.</a:t>
            </a:r>
          </a:p>
          <a:p/>
          <a:p>
            <a:r>
              <a:t>Just because a user is synced doesn't mean they can check their email. The sync process creates the security principal (username and password hash).</a:t>
            </a:r>
          </a:p>
          <a:p/>
          <a:p>
            <a:r>
              <a:t>But when that user logs in, they will see an empty home screen. To give them mailboxes, Teams access, and document storage, we must assign a license.</a:t>
            </a:r>
          </a:p>
          <a:p/>
          <a:p>
            <a:r>
              <a:t>We went into the Admin Center, clicked on our synced users, and toggled on the 'Microsoft 365 Developer E5' license. This automatically kicks off Exchange provisioning, creating a 50GB cloud mailbox for them, setting up their OneDrive file locker, and letting them sign in to Teams.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ultimate proof of concept: the end-user login demonstration.</a:t>
            </a:r>
          </a:p>
          <a:p/>
          <a:p>
            <a:r>
              <a:t>We took a clean Windows 10/11 client computer that represents a standard user workstation.</a:t>
            </a:r>
          </a:p>
          <a:p/>
          <a:p>
            <a:r>
              <a:t>We opened a web browser, cleared cookies, and went to portal.office.com.</a:t>
            </a:r>
          </a:p>
          <a:p/>
          <a:p>
            <a:r>
              <a:t>We entered the username: 'user01@cybertron.site' and the password—which is the exact same password User01 uses to log into their physical Windows PC on-premises.</a:t>
            </a:r>
          </a:p>
          <a:p/>
          <a:p>
            <a:r>
              <a:t>The login succeeded on the first attempt! User01 was welcomed with the customized Microsoft 365 homepage.</a:t>
            </a:r>
          </a:p>
          <a:p/>
          <a:p>
            <a:r>
              <a:t>This proves our hybrid identity setup works. The user only needs to memorize one set of credentials to access all local and cloud enterprise services.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brings together every component we have discussed into a single, cohesive architecture flow diagram.</a:t>
            </a:r>
          </a:p>
          <a:p/>
          <a:p>
            <a:r>
              <a:t>Let's trace the lifecycle of user configuration:</a:t>
            </a:r>
          </a:p>
          <a:p/>
          <a:p>
            <a:r>
              <a:t>First, the admin creates standard users in Active Directory. These users sit in our database managed by DC01 and DC02.</a:t>
            </a:r>
          </a:p>
          <a:p/>
          <a:p>
            <a:r>
              <a:t>We modify their identity suffix using the custom UPN 'cybertron.site'. This ensures they are prepared for public internet routing.</a:t>
            </a:r>
          </a:p>
          <a:p/>
          <a:p>
            <a:r>
              <a:t>Microsoft Entra Connect—installed on DC01—queries the changes, packages the metadata, and uploads the password hash representation to the Microsoft Entra ID cloud database.</a:t>
            </a:r>
          </a:p>
          <a:p/>
          <a:p>
            <a:r>
              <a:t>Finally, we assign E5 licensing in the cloud to unlock Teams, SharePoint, and Outlook. The end-user is now set up for a single-sign-on experience. They open their browser, visit portal.office.com, input their local username and password, and they're in.</a:t>
            </a:r>
          </a:p>
          <a:p/>
          <a:p>
            <a:r>
              <a:t>This flow shows how every single step we've done fits together to create a unified 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session, let's review the main takeaways:</a:t>
            </a:r>
          </a:p>
          <a:p/>
          <a:p>
            <a:r>
              <a:t>First: Hybrid Identity is about unification. A user has one identity, which reduces password fatigue and security issues.</a:t>
            </a:r>
          </a:p>
          <a:p/>
          <a:p>
            <a:r>
              <a:t>Second: Entra Connect is the sync motor. We manage accounts on-premises, and they sync automatically.</a:t>
            </a:r>
          </a:p>
          <a:p/>
          <a:p>
            <a:r>
              <a:t>Third: Security is key. PHS does not copy cleartext passwords. It hashes the NTLM hash with salts 1,000 times.</a:t>
            </a:r>
          </a:p>
          <a:p/>
          <a:p>
            <a:r>
              <a:t>Fourth: Directory sync creates the account, but licensing activates the cloud services.</a:t>
            </a:r>
          </a:p>
          <a:p/>
          <a:p>
            <a:r>
              <a:t>Together, this solution simplifies administration, boosts productivity, and provides robust security.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concludes the formal lecture on Hybrid Identity and Active Directory synchronization using Microsoft Entra Connect.</a:t>
            </a:r>
          </a:p>
          <a:p/>
          <a:p>
            <a:r>
              <a:t>Thank you all for your attention.</a:t>
            </a:r>
          </a:p>
          <a:p/>
          <a:p>
            <a:r>
              <a:t>I'd now like to open the floor to any questions you may have about setting up alternative UPN suffixes, DNS configuration, Password Hash Synchronization, or M365 licensing.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0"/>
            <a:ext cx="3657600" cy="4114800"/>
          </a:xfrm>
          <a:prstGeom prst="rect">
            <a:avLst/>
          </a:prstGeom>
          <a:noFill/>
        </p:spPr>
        <p:txBody>
          <a:bodyPr wrap="square">
            <a:spAutoFit/>
          </a:bodyPr>
          <a:lstStyle/>
          <a:p>
            <a:pPr>
              <a:spcAft>
                <a:spcPts val="1000"/>
              </a:spcAft>
              <a:defRPr sz="4400" b="1">
                <a:solidFill>
                  <a:srgbClr val="FFFFFF"/>
                </a:solidFill>
                <a:latin typeface="Segoe UI"/>
              </a:defRPr>
            </a:pPr>
            <a:r>
              <a:t>Hybrid Identity</a:t>
            </a:r>
          </a:p>
          <a:p>
            <a:pPr>
              <a:spcAft>
                <a:spcPts val="3000"/>
              </a:spcAft>
              <a:defRPr sz="1800">
                <a:solidFill>
                  <a:srgbClr val="A6D8FF"/>
                </a:solidFill>
                <a:latin typeface="Segoe UI"/>
              </a:defRPr>
            </a:pPr>
            <a:r>
              <a:t>Connecting Active Directory &amp; Microsoft 365 using Microsoft Entra Connect</a:t>
            </a:r>
          </a:p>
          <a:p>
            <a:pPr>
              <a:defRPr sz="1200" b="1">
                <a:solidFill>
                  <a:srgbClr val="FFFFFF"/>
                </a:solidFill>
                <a:latin typeface="Segoe UI"/>
              </a:defRPr>
            </a:pPr>
            <a:r>
              <a:t>Classroom Presentation &amp; Lab Guide</a:t>
            </a:r>
          </a:p>
        </p:txBody>
      </p:sp>
      <p:sp>
        <p:nvSpPr>
          <p:cNvPr id="4" name="Oval 3"/>
          <p:cNvSpPr/>
          <p:nvPr/>
        </p:nvSpPr>
        <p:spPr>
          <a:xfrm>
            <a:off x="5943600" y="2926080"/>
            <a:ext cx="1371600" cy="1371600"/>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latin typeface="Segoe UI"/>
              </a:defRPr>
            </a:pPr>
            <a:r>
              <a:t>Active</a:t>
            </a:r>
          </a:p>
          <a:p>
            <a:r>
              <a:t>Directory</a:t>
            </a:r>
          </a:p>
        </p:txBody>
      </p:sp>
      <p:sp>
        <p:nvSpPr>
          <p:cNvPr id="5" name="Oval 4"/>
          <p:cNvSpPr/>
          <p:nvPr/>
        </p:nvSpPr>
        <p:spPr>
          <a:xfrm>
            <a:off x="8229600" y="2011680"/>
            <a:ext cx="1097280" cy="1097280"/>
          </a:xfrm>
          <a:prstGeom prst="ellipse">
            <a:avLst/>
          </a:prstGeom>
          <a:solidFill>
            <a:srgbClr val="106EBE"/>
          </a:solidFill>
          <a:ln>
            <a:solidFill>
              <a:srgbClr val="106EB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200" b="1">
                <a:latin typeface="Segoe UI"/>
              </a:defRPr>
            </a:pPr>
            <a:r>
              <a:t>Entra</a:t>
            </a:r>
          </a:p>
          <a:p>
            <a:r>
              <a:t>Connect</a:t>
            </a:r>
          </a:p>
        </p:txBody>
      </p:sp>
      <p:sp>
        <p:nvSpPr>
          <p:cNvPr id="6" name="Oval 5"/>
          <p:cNvSpPr/>
          <p:nvPr/>
        </p:nvSpPr>
        <p:spPr>
          <a:xfrm>
            <a:off x="10058400" y="2926080"/>
            <a:ext cx="1371600" cy="1371600"/>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latin typeface="Segoe UI"/>
              </a:defRPr>
            </a:pPr>
            <a:r>
              <a:t>Microsoft</a:t>
            </a:r>
          </a:p>
          <a:p>
            <a:r>
              <a:t>365</a:t>
            </a:r>
          </a:p>
        </p:txBody>
      </p:sp>
      <p:sp>
        <p:nvSpPr>
          <p:cNvPr id="7" name="Rectangle 6"/>
          <p:cNvSpPr/>
          <p:nvPr/>
        </p:nvSpPr>
        <p:spPr>
          <a:xfrm>
            <a:off x="7223760" y="2560320"/>
            <a:ext cx="1097280" cy="36576"/>
          </a:xfrm>
          <a:prstGeom prst="rect">
            <a:avLst/>
          </a:prstGeom>
          <a:solidFill>
            <a:srgbClr val="605E5C"/>
          </a:solidFill>
          <a:ln>
            <a:solidFill>
              <a:srgbClr val="605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35440" y="2560320"/>
            <a:ext cx="914400" cy="36576"/>
          </a:xfrm>
          <a:prstGeom prst="rect">
            <a:avLst/>
          </a:prstGeom>
          <a:solidFill>
            <a:srgbClr val="605E5C"/>
          </a:solidFill>
          <a:ln>
            <a:solidFill>
              <a:srgbClr val="605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CORE CONCEPT</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What is Hybrid Identity?</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Links on-premises AD to cloud directory.</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Users sync automatically from local AD.</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Eliminates maintaining dual user directories.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Local password changes update cloud automatically.</a:t>
            </a:r>
            <a:r>
              <a:rPr b="0">
                <a:solidFill>
                  <a:srgbClr val="201F1E"/>
                </a:solidFill>
                <a:latin typeface="Segoe UI"/>
              </a:rPr>
              <a:t/>
            </a:r>
          </a:p>
          <a:p>
            <a:pPr/>
            <a:r>
              <a:rPr b="1">
                <a:solidFill>
                  <a:srgbClr val="002060"/>
                </a:solidFill>
                <a:latin typeface="Segoe UI"/>
              </a:rPr>
              <a:t>Suspending local users revokes cloud access.</a:t>
            </a:r>
          </a:p>
          <a:p>
            <a:pPr/>
            <a:r>
              <a:rPr b="1">
                <a:solidFill>
                  <a:srgbClr val="002060"/>
                </a:solidFill>
                <a:latin typeface="Segoe UI"/>
              </a:rPr>
              <a:t>Enhances security and reduces administrative workload.</a:t>
            </a:r>
          </a:p>
          <a:p>
            <a:pPr/>
            <a:r>
              <a:rPr b="1">
                <a:solidFill>
                  <a:srgbClr val="002060"/>
                </a:solidFill>
                <a:latin typeface="Segoe UI"/>
              </a:rPr>
              <a:t>Provides seamless end-user login experience.</a:t>
            </a:r>
          </a:p>
        </p:txBody>
      </p:sp>
      <p:sp>
        <p:nvSpPr>
          <p:cNvPr id="6" name="Rounded Rectangle 5"/>
          <p:cNvSpPr/>
          <p:nvPr/>
        </p:nvSpPr>
        <p:spPr>
          <a:xfrm>
            <a:off x="7132320" y="1828800"/>
            <a:ext cx="4297680" cy="3657600"/>
          </a:xfrm>
          <a:prstGeom prst="roundRect">
            <a:avLst/>
          </a:prstGeom>
          <a:solidFill>
            <a:srgbClr val="EFF6FC"/>
          </a:solidFill>
          <a:ln w="19050">
            <a:solidFill>
              <a:srgbClr val="005A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28800"/>
            <a:ext cx="109728" cy="365760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965960"/>
            <a:ext cx="3931920" cy="3383280"/>
          </a:xfrm>
          <a:prstGeom prst="rect">
            <a:avLst/>
          </a:prstGeom>
          <a:noFill/>
        </p:spPr>
        <p:txBody>
          <a:bodyPr wrap="square">
            <a:spAutoFit/>
          </a:bodyPr>
          <a:lstStyle/>
          <a:p>
            <a:pPr>
              <a:spcAft>
                <a:spcPts val="600"/>
              </a:spcAft>
              <a:defRPr sz="1400" b="1">
                <a:solidFill>
                  <a:srgbClr val="0078D4"/>
                </a:solidFill>
                <a:latin typeface="Segoe UI"/>
              </a:defRPr>
            </a:pPr>
            <a:r>
              <a:rPr>
                <a:solidFill/>
              </a:rPr>
              <a:t>💡 REAL-WORLD ANALOGY</a:t>
            </a:r>
          </a:p>
          <a:p>
            <a:pPr>
              <a:spcAft>
                <a:spcPts val="0"/>
              </a:spcAft>
              <a:defRPr sz="1300">
                <a:solidFill>
                  <a:srgbClr val="201F1E"/>
                </a:solidFill>
                <a:latin typeface="Segoe UI"/>
              </a:defRPr>
            </a:pPr>
            <a:r>
              <a:t>Single ID badge opens physical doors.</a:t>
            </a:r>
          </a:p>
          <a:p>
            <a:pPr/>
            <a:r>
              <a:t>Same badge opens cloud web portal.</a:t>
            </a:r>
          </a:p>
          <a:p>
            <a:pPr/>
            <a:r>
              <a:t>One identity unlocks all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LAB INFRASTRUCTURE</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Our Classroom Lab Environment</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4864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Local testing forest named LFI-AD.local.</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Deployed two replica Active Directory controllers.</a:t>
            </a:r>
            <a:r>
              <a:rPr b="0">
                <a:solidFill>
                  <a:srgbClr val="201F1E"/>
                </a:solidFill>
                <a:latin typeface="Segoe UI"/>
              </a:rPr>
              <a:t/>
            </a:r>
          </a:p>
          <a:p>
            <a:pPr lvl="1">
              <a:spcAft>
                <a:spcPts val="600"/>
              </a:spcAft>
              <a:defRPr sz="1600">
                <a:solidFill>
                  <a:srgbClr val="201F1E"/>
                </a:solidFill>
                <a:latin typeface="Segoe UI"/>
              </a:defRPr>
            </a:pPr>
            <a:r>
              <a:t>DC01 acts as primary domain controller.</a:t>
            </a:r>
          </a:p>
          <a:p>
            <a:pPr lvl="1">
              <a:spcAft>
                <a:spcPts val="600"/>
              </a:spcAft>
              <a:defRPr sz="1600">
                <a:solidFill>
                  <a:srgbClr val="201F1E"/>
                </a:solidFill>
                <a:latin typeface="Segoe UI"/>
              </a:defRPr>
            </a:pPr>
            <a:r>
              <a:t>DC02 runs as backup domain controller.</a:t>
            </a:r>
          </a:p>
          <a:p>
            <a:pPr>
              <a:spcAft>
                <a:spcPts val="1000"/>
              </a:spcAft>
              <a:defRPr sz="1800">
                <a:solidFill>
                  <a:srgbClr val="201F1E"/>
                </a:solidFill>
                <a:latin typeface="Segoe UI"/>
              </a:defRPr>
            </a:pPr>
            <a:r>
              <a:rPr b="1">
                <a:solidFill>
                  <a:srgbClr val="002060"/>
                </a:solidFill>
                <a:latin typeface="Segoe UI"/>
              </a:rPr>
              <a:t>Created four active test user accounts.</a:t>
            </a:r>
            <a:r>
              <a:rPr b="0">
                <a:solidFill>
                  <a:srgbClr val="201F1E"/>
                </a:solidFill>
                <a:latin typeface="Segoe UI"/>
              </a:rPr>
              <a:t/>
            </a:r>
          </a:p>
          <a:p>
            <a:pPr lvl="1">
              <a:spcAft>
                <a:spcPts val="600"/>
              </a:spcAft>
              <a:defRPr sz="1600">
                <a:solidFill>
                  <a:srgbClr val="201F1E"/>
                </a:solidFill>
                <a:latin typeface="Segoe UI"/>
              </a:defRPr>
            </a:pPr>
            <a:r>
              <a:t>Users test sync and license flows.</a:t>
            </a:r>
          </a:p>
        </p:txBody>
      </p:sp>
      <p:sp>
        <p:nvSpPr>
          <p:cNvPr id="6" name="Rounded Rectangle 5"/>
          <p:cNvSpPr/>
          <p:nvPr/>
        </p:nvSpPr>
        <p:spPr>
          <a:xfrm>
            <a:off x="6766560" y="1645920"/>
            <a:ext cx="4663440" cy="438912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737360"/>
            <a:ext cx="4480560" cy="365760"/>
          </a:xfrm>
          <a:prstGeom prst="rect">
            <a:avLst/>
          </a:prstGeom>
          <a:noFill/>
        </p:spPr>
        <p:txBody>
          <a:bodyPr wrap="none">
            <a:spAutoFit/>
          </a:bodyPr>
          <a:lstStyle/>
          <a:p>
            <a:pPr algn="ctr">
              <a:defRPr sz="1300" b="1">
                <a:solidFill>
                  <a:srgbClr val="002060"/>
                </a:solidFill>
                <a:latin typeface="Segoe UI"/>
              </a:defRPr>
            </a:pPr>
            <a:r>
              <a:t>On-Premises Local Active Directory Infrastructure</a:t>
            </a:r>
          </a:p>
        </p:txBody>
      </p:sp>
      <p:sp>
        <p:nvSpPr>
          <p:cNvPr id="8" name="Rounded Rectangle 7"/>
          <p:cNvSpPr/>
          <p:nvPr/>
        </p:nvSpPr>
        <p:spPr>
          <a:xfrm>
            <a:off x="7040880" y="2194560"/>
            <a:ext cx="1920240" cy="137160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2331720"/>
            <a:ext cx="1645920" cy="1097280"/>
          </a:xfrm>
          <a:prstGeom prst="rect">
            <a:avLst/>
          </a:prstGeom>
          <a:noFill/>
        </p:spPr>
        <p:txBody>
          <a:bodyPr wrap="square">
            <a:spAutoFit/>
          </a:bodyPr>
          <a:lstStyle/>
          <a:p>
            <a:pPr>
              <a:spcAft>
                <a:spcPts val="800"/>
              </a:spcAft>
              <a:defRPr sz="1600" b="1">
                <a:solidFill>
                  <a:srgbClr val="002060"/>
                </a:solidFill>
                <a:latin typeface="Segoe UI"/>
              </a:defRPr>
            </a:pPr>
            <a:r>
              <a:t>DC01 (Active)</a:t>
            </a:r>
          </a:p>
          <a:p>
            <a:pPr>
              <a:spcAft>
                <a:spcPts val="400"/>
              </a:spcAft>
              <a:defRPr sz="1200">
                <a:solidFill>
                  <a:srgbClr val="201F1E"/>
                </a:solidFill>
                <a:latin typeface="Segoe UI"/>
              </a:defRPr>
            </a:pPr>
            <a:r>
              <a:t>IP: 10.2.0.42</a:t>
            </a:r>
          </a:p>
          <a:p>
            <a:pPr>
              <a:spcAft>
                <a:spcPts val="400"/>
              </a:spcAft>
              <a:defRPr sz="1200">
                <a:solidFill>
                  <a:srgbClr val="201F1E"/>
                </a:solidFill>
                <a:latin typeface="Segoe UI"/>
              </a:defRPr>
            </a:pPr>
            <a:r>
              <a:t>Role: FSMO, DNS</a:t>
            </a:r>
          </a:p>
          <a:p>
            <a:pPr>
              <a:spcAft>
                <a:spcPts val="400"/>
              </a:spcAft>
              <a:defRPr sz="1200">
                <a:solidFill>
                  <a:srgbClr val="201F1E"/>
                </a:solidFill>
                <a:latin typeface="Segoe UI"/>
              </a:defRPr>
            </a:pPr>
            <a:r>
              <a:t>Sync Engine installed</a:t>
            </a:r>
          </a:p>
        </p:txBody>
      </p:sp>
      <p:sp>
        <p:nvSpPr>
          <p:cNvPr id="10" name="Rounded Rectangle 9"/>
          <p:cNvSpPr/>
          <p:nvPr/>
        </p:nvSpPr>
        <p:spPr>
          <a:xfrm>
            <a:off x="9235440" y="2194560"/>
            <a:ext cx="1920240" cy="137160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72600" y="2331720"/>
            <a:ext cx="1645920" cy="1097280"/>
          </a:xfrm>
          <a:prstGeom prst="rect">
            <a:avLst/>
          </a:prstGeom>
          <a:noFill/>
        </p:spPr>
        <p:txBody>
          <a:bodyPr wrap="square">
            <a:spAutoFit/>
          </a:bodyPr>
          <a:lstStyle/>
          <a:p>
            <a:pPr>
              <a:spcAft>
                <a:spcPts val="800"/>
              </a:spcAft>
              <a:defRPr sz="1600" b="1">
                <a:solidFill>
                  <a:srgbClr val="002060"/>
                </a:solidFill>
                <a:latin typeface="Segoe UI"/>
              </a:defRPr>
            </a:pPr>
            <a:r>
              <a:t>DC02 (Replica)</a:t>
            </a:r>
          </a:p>
          <a:p>
            <a:pPr>
              <a:spcAft>
                <a:spcPts val="400"/>
              </a:spcAft>
              <a:defRPr sz="1200">
                <a:solidFill>
                  <a:srgbClr val="201F1E"/>
                </a:solidFill>
                <a:latin typeface="Segoe UI"/>
              </a:defRPr>
            </a:pPr>
            <a:r>
              <a:t>IP: 10.2.0.43</a:t>
            </a:r>
          </a:p>
          <a:p>
            <a:pPr>
              <a:spcAft>
                <a:spcPts val="400"/>
              </a:spcAft>
              <a:defRPr sz="1200">
                <a:solidFill>
                  <a:srgbClr val="201F1E"/>
                </a:solidFill>
                <a:latin typeface="Segoe UI"/>
              </a:defRPr>
            </a:pPr>
            <a:r>
              <a:t>Role: Backup DNS</a:t>
            </a:r>
          </a:p>
          <a:p>
            <a:pPr>
              <a:spcAft>
                <a:spcPts val="400"/>
              </a:spcAft>
              <a:defRPr sz="1200">
                <a:solidFill>
                  <a:srgbClr val="201F1E"/>
                </a:solidFill>
                <a:latin typeface="Segoe UI"/>
              </a:defRPr>
            </a:pPr>
            <a:r>
              <a:t>AD Directory replica</a:t>
            </a:r>
          </a:p>
        </p:txBody>
      </p:sp>
      <p:sp>
        <p:nvSpPr>
          <p:cNvPr id="12" name="Rounded Rectangle 11"/>
          <p:cNvSpPr/>
          <p:nvPr/>
        </p:nvSpPr>
        <p:spPr>
          <a:xfrm>
            <a:off x="7040880" y="3931920"/>
            <a:ext cx="4114800" cy="1645920"/>
          </a:xfrm>
          <a:prstGeom prst="roundRect">
            <a:avLst/>
          </a:prstGeom>
          <a:solidFill>
            <a:srgbClr val="FFFFFF"/>
          </a:solidFill>
          <a:ln>
            <a:solidFill>
              <a:srgbClr val="106EB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002060"/>
                </a:solidFill>
                <a:latin typeface="Segoe UI"/>
              </a:defRPr>
            </a:pPr>
            <a:r>
              <a:t>Workstation Clients &amp; Users</a:t>
            </a:r>
          </a:p>
          <a:p>
            <a:pPr>
              <a:defRPr sz="1100">
                <a:solidFill>
                  <a:srgbClr val="201F1E"/>
                </a:solidFill>
                <a:latin typeface="Segoe UI"/>
              </a:defRPr>
            </a:pPr>
            <a:r>
              <a:t>• Domain: LFI-AD.local_x000B_• Users: user01, user02, user03, user04_x000B_• Workstation: Windows 10 client</a:t>
            </a:r>
            <a:br/>
            <a:r>
              <a:t/>
            </a:r>
            <a:br/>
            <a:r>
              <a:t/>
            </a:r>
          </a:p>
        </p:txBody>
      </p:sp>
      <p:sp>
        <p:nvSpPr>
          <p:cNvPr id="13" name="Rectangle 12"/>
          <p:cNvSpPr/>
          <p:nvPr/>
        </p:nvSpPr>
        <p:spPr>
          <a:xfrm>
            <a:off x="8001000" y="3566160"/>
            <a:ext cx="36576" cy="36576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195560" y="3566160"/>
            <a:ext cx="36576" cy="36576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ACTIVE DIRECTORY CHALLENGE</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The Problem with ".local" Domains</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Internal namespaces isolate private Active Directory.</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Private suffixes are internet non-routable.</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Public clouds cannot verify private domains.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Syncing private domains forces tenant fallback.</a:t>
            </a:r>
            <a:r>
              <a:rPr b="0">
                <a:solidFill>
                  <a:srgbClr val="201F1E"/>
                </a:solidFill>
                <a:latin typeface="Segoe UI"/>
              </a:rPr>
              <a:t/>
            </a:r>
          </a:p>
          <a:p>
            <a:pPr/>
            <a:r>
              <a:rPr b="1">
                <a:solidFill>
                  <a:srgbClr val="002060"/>
                </a:solidFill>
                <a:latin typeface="Segoe UI"/>
              </a:rPr>
              <a:t>Fallback usernames use tenant default suffixes.</a:t>
            </a:r>
          </a:p>
          <a:p>
            <a:pPr/>
            <a:r>
              <a:rPr b="1">
                <a:solidFill>
                  <a:srgbClr val="002060"/>
                </a:solidFill>
                <a:latin typeface="Segoe UI"/>
              </a:rPr>
              <a:t>Prevents using clean branded email addresses.</a:t>
            </a:r>
          </a:p>
        </p:txBody>
      </p:sp>
      <p:sp>
        <p:nvSpPr>
          <p:cNvPr id="6" name="Rounded Rectangle 5"/>
          <p:cNvSpPr/>
          <p:nvPr/>
        </p:nvSpPr>
        <p:spPr>
          <a:xfrm>
            <a:off x="7132320" y="1828800"/>
            <a:ext cx="4297680" cy="3657600"/>
          </a:xfrm>
          <a:prstGeom prst="roundRect">
            <a:avLst/>
          </a:prstGeom>
          <a:solidFill>
            <a:srgbClr val="EFF6FC"/>
          </a:solidFill>
          <a:ln w="19050">
            <a:solidFill>
              <a:srgbClr val="005A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28800"/>
            <a:ext cx="109728" cy="365760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965960"/>
            <a:ext cx="3931920" cy="3383280"/>
          </a:xfrm>
          <a:prstGeom prst="rect">
            <a:avLst/>
          </a:prstGeom>
          <a:noFill/>
        </p:spPr>
        <p:txBody>
          <a:bodyPr wrap="square">
            <a:spAutoFit/>
          </a:bodyPr>
          <a:lstStyle/>
          <a:p>
            <a:pPr>
              <a:spcAft>
                <a:spcPts val="600"/>
              </a:spcAft>
              <a:defRPr sz="1400" b="1">
                <a:solidFill>
                  <a:srgbClr val="0078D4"/>
                </a:solidFill>
                <a:latin typeface="Segoe UI"/>
              </a:defRPr>
            </a:pPr>
            <a:r>
              <a:rPr>
                <a:solidFill/>
              </a:rPr>
              <a:t>💡 REAL-WORLD ANALOGY</a:t>
            </a:r>
          </a:p>
          <a:p>
            <a:pPr>
              <a:spcAft>
                <a:spcPts val="0"/>
              </a:spcAft>
              <a:defRPr sz="1300">
                <a:solidFill>
                  <a:srgbClr val="201F1E"/>
                </a:solidFill>
                <a:latin typeface="Segoe UI"/>
              </a:defRPr>
            </a:pPr>
            <a:r>
              <a:t>'Kitchen' address works inside the home.</a:t>
            </a:r>
          </a:p>
          <a:p>
            <a:pPr/>
            <a:r>
              <a:t>Public postal services reject 'Kitchen' addresses.</a:t>
            </a:r>
          </a:p>
          <a:p>
            <a:pPr/>
            <a:r>
              <a:t>Mail routing requires registered public addresses.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AD CONFIGURATION</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UPN Suffix Change (Preparation)</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4864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UPN is the internet-style Windows username.</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Add public domain as alternative suffix.</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Open Domains and Trusts on DC01.</a:t>
            </a:r>
            <a:r>
              <a:rPr b="0">
                <a:solidFill>
                  <a:srgbClr val="201F1E"/>
                </a:solidFill>
                <a:latin typeface="Segoe UI"/>
              </a:rPr>
              <a:t/>
            </a:r>
          </a:p>
          <a:p>
            <a:pPr lvl="1">
              <a:spcAft>
                <a:spcPts val="600"/>
              </a:spcAft>
              <a:defRPr sz="1600">
                <a:solidFill>
                  <a:srgbClr val="201F1E"/>
                </a:solidFill>
                <a:latin typeface="Segoe UI"/>
              </a:defRPr>
            </a:pPr>
            <a:r>
              <a:t>Add cybertron.site under root Properties.</a:t>
            </a:r>
          </a:p>
          <a:p>
            <a:pPr lvl="1">
              <a:spcAft>
                <a:spcPts val="600"/>
              </a:spcAft>
              <a:defRPr sz="1600">
                <a:solidFill>
                  <a:srgbClr val="201F1E"/>
                </a:solidFill>
                <a:latin typeface="Segoe UI"/>
              </a:defRPr>
            </a:pPr>
            <a:r>
              <a:t>Open Users and Computers console.</a:t>
            </a:r>
          </a:p>
          <a:p>
            <a:pPr lvl="1">
              <a:spcAft>
                <a:spcPts val="600"/>
              </a:spcAft>
              <a:defRPr sz="1600">
                <a:solidFill>
                  <a:srgbClr val="201F1E"/>
                </a:solidFill>
                <a:latin typeface="Segoe UI"/>
              </a:defRPr>
            </a:pPr>
            <a:r>
              <a:t>Assign new suffix to test users.</a:t>
            </a:r>
          </a:p>
          <a:p>
            <a:pPr>
              <a:spcAft>
                <a:spcPts val="1000"/>
              </a:spcAft>
              <a:defRPr sz="1800">
                <a:solidFill>
                  <a:srgbClr val="201F1E"/>
                </a:solidFill>
                <a:latin typeface="Segoe UI"/>
              </a:defRPr>
            </a:pPr>
            <a:r>
              <a:rPr b="1">
                <a:solidFill>
                  <a:srgbClr val="002060"/>
                </a:solidFill>
                <a:latin typeface="Segoe UI"/>
              </a:rPr>
              <a:t>Local sign-in matches future cloud login.</a:t>
            </a:r>
            <a:r>
              <a:rPr b="0">
                <a:solidFill>
                  <a:srgbClr val="201F1E"/>
                </a:solidFill>
                <a:latin typeface="Segoe UI"/>
              </a:rPr>
              <a:t/>
            </a:r>
          </a:p>
        </p:txBody>
      </p:sp>
      <p:graphicFrame>
        <p:nvGraphicFramePr>
          <p:cNvPr id="6" name="Table 5"/>
          <p:cNvGraphicFramePr>
            <a:graphicFrameLocks noGrp="1"/>
          </p:cNvGraphicFramePr>
          <p:nvPr/>
        </p:nvGraphicFramePr>
        <p:xfrm>
          <a:off x="6583680" y="2011680"/>
          <a:ext cx="4846320" cy="3200400"/>
        </p:xfrm>
        <a:graphic>
          <a:graphicData uri="http://schemas.openxmlformats.org/drawingml/2006/table">
            <a:tbl>
              <a:tblPr firstRow="1" bandRow="1">
                <a:tableStyleId>{5C22544A-7EE6-4342-B048-85BDC9FD1C3A}</a:tableStyleId>
              </a:tblPr>
              <a:tblGrid>
                <a:gridCol w="1188720"/>
                <a:gridCol w="1828800"/>
                <a:gridCol w="1828800"/>
              </a:tblGrid>
              <a:tr h="800100">
                <a:tc>
                  <a:txBody>
                    <a:bodyPr/>
                    <a:lstStyle/>
                    <a:p>
                      <a:pPr algn="ctr">
                        <a:defRPr sz="1300" b="1">
                          <a:solidFill>
                            <a:srgbClr val="FFFFFF"/>
                          </a:solidFill>
                          <a:latin typeface="Segoe UI"/>
                        </a:defRPr>
                      </a:pPr>
                      <a:r>
                        <a:t>Property</a:t>
                      </a:r>
                    </a:p>
                  </a:txBody>
                  <a:tcPr>
                    <a:solidFill>
                      <a:srgbClr val="002060"/>
                    </a:solidFill>
                  </a:tcPr>
                </a:tc>
                <a:tc>
                  <a:txBody>
                    <a:bodyPr/>
                    <a:lstStyle/>
                    <a:p>
                      <a:pPr algn="ctr">
                        <a:defRPr sz="1300" b="1">
                          <a:solidFill>
                            <a:srgbClr val="FFFFFF"/>
                          </a:solidFill>
                          <a:latin typeface="Segoe UI"/>
                        </a:defRPr>
                      </a:pPr>
                      <a:r>
                        <a:t>Before Change</a:t>
                      </a:r>
                    </a:p>
                  </a:txBody>
                  <a:tcPr>
                    <a:solidFill>
                      <a:srgbClr val="002060"/>
                    </a:solidFill>
                  </a:tcPr>
                </a:tc>
                <a:tc>
                  <a:txBody>
                    <a:bodyPr/>
                    <a:lstStyle/>
                    <a:p>
                      <a:pPr algn="ctr">
                        <a:defRPr sz="1300" b="1">
                          <a:solidFill>
                            <a:srgbClr val="FFFFFF"/>
                          </a:solidFill>
                          <a:latin typeface="Segoe UI"/>
                        </a:defRPr>
                      </a:pPr>
                      <a:r>
                        <a:t>After Change</a:t>
                      </a:r>
                    </a:p>
                  </a:txBody>
                  <a:tcPr>
                    <a:solidFill>
                      <a:srgbClr val="002060"/>
                    </a:solidFill>
                  </a:tcPr>
                </a:tc>
              </a:tr>
              <a:tr h="800100">
                <a:tc>
                  <a:txBody>
                    <a:bodyPr/>
                    <a:lstStyle/>
                    <a:p>
                      <a:pPr algn="l">
                        <a:defRPr sz="1200" b="1">
                          <a:solidFill>
                            <a:srgbClr val="201F1E"/>
                          </a:solidFill>
                          <a:latin typeface="Segoe UI"/>
                        </a:defRPr>
                      </a:pPr>
                      <a:r>
                        <a:t>Domain Suffix</a:t>
                      </a:r>
                    </a:p>
                  </a:txBody>
                  <a:tcPr>
                    <a:solidFill>
                      <a:srgbClr val="F3F6FC"/>
                    </a:solidFill>
                  </a:tcPr>
                </a:tc>
                <a:tc>
                  <a:txBody>
                    <a:bodyPr/>
                    <a:lstStyle/>
                    <a:p>
                      <a:pPr algn="ctr">
                        <a:defRPr sz="1200">
                          <a:solidFill>
                            <a:srgbClr val="201F1E"/>
                          </a:solidFill>
                          <a:latin typeface="Segoe UI"/>
                        </a:defRPr>
                      </a:pPr>
                      <a:r>
                        <a:t>LFI-AD.local</a:t>
                      </a:r>
                    </a:p>
                  </a:txBody>
                  <a:tcPr>
                    <a:solidFill>
                      <a:srgbClr val="F3F6FC"/>
                    </a:solidFill>
                  </a:tcPr>
                </a:tc>
                <a:tc>
                  <a:txBody>
                    <a:bodyPr/>
                    <a:lstStyle/>
                    <a:p>
                      <a:pPr algn="ctr">
                        <a:defRPr sz="1200">
                          <a:solidFill>
                            <a:srgbClr val="201F1E"/>
                          </a:solidFill>
                          <a:latin typeface="Segoe UI"/>
                        </a:defRPr>
                      </a:pPr>
                      <a:r>
                        <a:t>cybertron.site</a:t>
                      </a:r>
                    </a:p>
                  </a:txBody>
                  <a:tcPr>
                    <a:solidFill>
                      <a:srgbClr val="F3F6FC"/>
                    </a:solidFill>
                  </a:tcPr>
                </a:tc>
              </a:tr>
              <a:tr h="800100">
                <a:tc>
                  <a:txBody>
                    <a:bodyPr/>
                    <a:lstStyle/>
                    <a:p>
                      <a:pPr algn="l">
                        <a:defRPr sz="1200" b="1">
                          <a:solidFill>
                            <a:srgbClr val="201F1E"/>
                          </a:solidFill>
                          <a:latin typeface="Segoe UI"/>
                        </a:defRPr>
                      </a:pPr>
                      <a:r>
                        <a:t>Format</a:t>
                      </a:r>
                    </a:p>
                  </a:txBody>
                  <a:tcPr>
                    <a:solidFill>
                      <a:srgbClr val="FFFFFF"/>
                    </a:solidFill>
                  </a:tcPr>
                </a:tc>
                <a:tc>
                  <a:txBody>
                    <a:bodyPr/>
                    <a:lstStyle/>
                    <a:p>
                      <a:pPr algn="ctr">
                        <a:defRPr sz="1200">
                          <a:solidFill>
                            <a:srgbClr val="201F1E"/>
                          </a:solidFill>
                          <a:latin typeface="Segoe UI"/>
                        </a:defRPr>
                      </a:pPr>
                      <a:r>
                        <a:t>user01@LFI-AD.local</a:t>
                      </a:r>
                    </a:p>
                  </a:txBody>
                  <a:tcPr>
                    <a:solidFill>
                      <a:srgbClr val="FFFFFF"/>
                    </a:solidFill>
                  </a:tcPr>
                </a:tc>
                <a:tc>
                  <a:txBody>
                    <a:bodyPr/>
                    <a:lstStyle/>
                    <a:p>
                      <a:pPr algn="ctr">
                        <a:defRPr sz="1200">
                          <a:solidFill>
                            <a:srgbClr val="201F1E"/>
                          </a:solidFill>
                          <a:latin typeface="Segoe UI"/>
                        </a:defRPr>
                      </a:pPr>
                      <a:r>
                        <a:t>user01@cybertron.site</a:t>
                      </a:r>
                    </a:p>
                  </a:txBody>
                  <a:tcPr>
                    <a:solidFill>
                      <a:srgbClr val="FFFFFF"/>
                    </a:solidFill>
                  </a:tcPr>
                </a:tc>
              </a:tr>
              <a:tr h="800100">
                <a:tc>
                  <a:txBody>
                    <a:bodyPr/>
                    <a:lstStyle/>
                    <a:p>
                      <a:pPr algn="l">
                        <a:defRPr sz="1200" b="1">
                          <a:solidFill>
                            <a:srgbClr val="201F1E"/>
                          </a:solidFill>
                          <a:latin typeface="Segoe UI"/>
                        </a:defRPr>
                      </a:pPr>
                      <a:r>
                        <a:t>Routable</a:t>
                      </a:r>
                    </a:p>
                  </a:txBody>
                  <a:tcPr>
                    <a:solidFill>
                      <a:srgbClr val="F3F6FC"/>
                    </a:solidFill>
                  </a:tcPr>
                </a:tc>
                <a:tc>
                  <a:txBody>
                    <a:bodyPr/>
                    <a:lstStyle/>
                    <a:p>
                      <a:pPr algn="ctr">
                        <a:defRPr sz="1200">
                          <a:solidFill>
                            <a:srgbClr val="201F1E"/>
                          </a:solidFill>
                          <a:latin typeface="Segoe UI"/>
                        </a:defRPr>
                      </a:pPr>
                      <a:r>
                        <a:t>No (Private)</a:t>
                      </a:r>
                    </a:p>
                  </a:txBody>
                  <a:tcPr>
                    <a:solidFill>
                      <a:srgbClr val="F3F6FC"/>
                    </a:solidFill>
                  </a:tcPr>
                </a:tc>
                <a:tc>
                  <a:txBody>
                    <a:bodyPr/>
                    <a:lstStyle/>
                    <a:p>
                      <a:pPr algn="ctr">
                        <a:defRPr sz="1200">
                          <a:solidFill>
                            <a:srgbClr val="201F1E"/>
                          </a:solidFill>
                          <a:latin typeface="Segoe UI"/>
                        </a:defRPr>
                      </a:pPr>
                      <a:r>
                        <a:t>Yes (Public DNS)</a:t>
                      </a:r>
                    </a:p>
                  </a:txBody>
                  <a:tcPr>
                    <a:solidFill>
                      <a:srgbClr val="F3F6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CLOUD ENVIRONMENT</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Microsoft 365 E5 Tenant Setup</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Developer Program provides free cloud sandbox.</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Provisioned cloud tenant is lfilab.onmicrosoft.com.</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Administered using Global Administrator account.</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E5 license unlocks Entra ID P2.</a:t>
            </a:r>
            <a:r>
              <a:rPr b="0">
                <a:solidFill>
                  <a:srgbClr val="201F1E"/>
                </a:solidFill>
                <a:latin typeface="Segoe UI"/>
              </a:rPr>
              <a:t/>
            </a:r>
          </a:p>
          <a:p>
            <a:pPr lvl="1">
              <a:spcAft>
                <a:spcPts val="600"/>
              </a:spcAft>
              <a:defRPr sz="1600">
                <a:solidFill>
                  <a:srgbClr val="201F1E"/>
                </a:solidFill>
                <a:latin typeface="Segoe UI"/>
              </a:defRPr>
            </a:pPr>
            <a:r>
              <a:t>Permits testing advanced cloud security features.</a:t>
            </a:r>
          </a:p>
          <a:p>
            <a:pPr lvl="1">
              <a:spcAft>
                <a:spcPts val="600"/>
              </a:spcAft>
              <a:defRPr sz="1600">
                <a:solidFill>
                  <a:srgbClr val="201F1E"/>
                </a:solidFill>
                <a:latin typeface="Segoe UI"/>
              </a:defRPr>
            </a:pPr>
            <a:r>
              <a:t>Provides twenty-five testing user licenses.</a:t>
            </a:r>
          </a:p>
          <a:p>
            <a:pPr lvl="1">
              <a:spcAft>
                <a:spcPts val="600"/>
              </a:spcAft>
              <a:defRPr sz="1600">
                <a:solidFill>
                  <a:srgbClr val="201F1E"/>
                </a:solidFill>
                <a:latin typeface="Segoe UI"/>
              </a:defRPr>
            </a:pPr>
            <a:r>
              <a:t>Enables full SaaS application access.</a:t>
            </a:r>
          </a:p>
        </p:txBody>
      </p:sp>
      <p:sp>
        <p:nvSpPr>
          <p:cNvPr id="6" name="Rounded Rectangle 5"/>
          <p:cNvSpPr/>
          <p:nvPr/>
        </p:nvSpPr>
        <p:spPr>
          <a:xfrm>
            <a:off x="7132320" y="1828800"/>
            <a:ext cx="4297680" cy="384048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002060"/>
                </a:solidFill>
                <a:latin typeface="Segoe UI"/>
              </a:defRPr>
            </a:pPr>
            <a:r>
              <a:t>☁️ M365 Cloud Sandbox Features</a:t>
            </a:r>
          </a:p>
          <a:p>
            <a:pPr>
              <a:spcAft>
                <a:spcPts val="800"/>
              </a:spcAft>
              <a:defRPr sz="1300">
                <a:solidFill>
                  <a:srgbClr val="201F1E"/>
                </a:solidFill>
                <a:latin typeface="Segoe UI"/>
              </a:defRPr>
            </a:pPr>
            <a:r>
              <a:t>✔ Active Tenant: lfilab.onmicrosoft.com</a:t>
            </a:r>
          </a:p>
          <a:p>
            <a:pPr>
              <a:spcAft>
                <a:spcPts val="800"/>
              </a:spcAft>
              <a:defRPr sz="1300">
                <a:solidFill>
                  <a:srgbClr val="201F1E"/>
                </a:solidFill>
                <a:latin typeface="Segoe UI"/>
              </a:defRPr>
            </a:pPr>
            <a:r>
              <a:t>✔ Global Admin Account Ready</a:t>
            </a:r>
          </a:p>
          <a:p>
            <a:pPr>
              <a:spcAft>
                <a:spcPts val="800"/>
              </a:spcAft>
              <a:defRPr sz="1300">
                <a:solidFill>
                  <a:srgbClr val="201F1E"/>
                </a:solidFill>
                <a:latin typeface="Segoe UI"/>
              </a:defRPr>
            </a:pPr>
            <a:r>
              <a:t>✔ 25 Active Developer E5 Licenses</a:t>
            </a:r>
          </a:p>
          <a:p>
            <a:pPr>
              <a:spcAft>
                <a:spcPts val="800"/>
              </a:spcAft>
              <a:defRPr sz="1300">
                <a:solidFill>
                  <a:srgbClr val="201F1E"/>
                </a:solidFill>
                <a:latin typeface="Segoe UI"/>
              </a:defRPr>
            </a:pPr>
            <a:r>
              <a:t>✔ Entra ID Premium P2 Directory Enabled</a:t>
            </a:r>
          </a:p>
          <a:p>
            <a:pPr>
              <a:spcAft>
                <a:spcPts val="800"/>
              </a:spcAft>
              <a:defRPr sz="1300">
                <a:solidFill>
                  <a:srgbClr val="201F1E"/>
                </a:solidFill>
                <a:latin typeface="Segoe UI"/>
              </a:defRPr>
            </a:pPr>
            <a:r>
              <a:t>✔ Complete Exchange Online Mail Support</a:t>
            </a:r>
          </a:p>
          <a:p>
            <a:pPr>
              <a:spcAft>
                <a:spcPts val="800"/>
              </a:spcAft>
              <a:defRPr sz="1300">
                <a:solidFill>
                  <a:srgbClr val="201F1E"/>
                </a:solidFill>
                <a:latin typeface="Segoe UI"/>
              </a:defRPr>
            </a:pPr>
            <a:r>
              <a:t>✔ Microsoft Defender Security Sandbox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DOMAIN VERIFICATION</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Domain Verification Process</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Verify custom domain ownership with Microsoft.</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Manage public DNS records using Cloudflare.</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Add TXT record verifying domain ownership.</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Configure MX records for email routing.</a:t>
            </a:r>
            <a:r>
              <a:rPr b="0">
                <a:solidFill>
                  <a:srgbClr val="201F1E"/>
                </a:solidFill>
                <a:latin typeface="Segoe UI"/>
              </a:rPr>
              <a:t/>
            </a:r>
          </a:p>
          <a:p>
            <a:pPr lvl="1">
              <a:spcAft>
                <a:spcPts val="600"/>
              </a:spcAft>
              <a:defRPr sz="1600">
                <a:solidFill>
                  <a:srgbClr val="201F1E"/>
                </a:solidFill>
                <a:latin typeface="Segoe UI"/>
              </a:defRPr>
            </a:pPr>
            <a:r>
              <a:t>Deploy SPF TXT records preventing spoofing.</a:t>
            </a:r>
          </a:p>
          <a:p>
            <a:pPr lvl="1">
              <a:spcAft>
                <a:spcPts val="600"/>
              </a:spcAft>
              <a:defRPr sz="1600">
                <a:solidFill>
                  <a:srgbClr val="201F1E"/>
                </a:solidFill>
                <a:latin typeface="Segoe UI"/>
              </a:defRPr>
            </a:pPr>
            <a:r>
              <a:t>Add CNAME records enabling Autodiscover service.</a:t>
            </a:r>
          </a:p>
        </p:txBody>
      </p:sp>
      <p:sp>
        <p:nvSpPr>
          <p:cNvPr id="6" name="Rounded Rectangle 5"/>
          <p:cNvSpPr/>
          <p:nvPr/>
        </p:nvSpPr>
        <p:spPr>
          <a:xfrm>
            <a:off x="6949440" y="1828800"/>
            <a:ext cx="4480560" cy="384048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02060"/>
                </a:solidFill>
                <a:latin typeface="Segoe UI"/>
              </a:defRPr>
            </a:pPr>
            <a:r>
              <a:t>🌐 Cloudflare DNS Configuration</a:t>
            </a:r>
          </a:p>
          <a:p>
            <a:pPr>
              <a:spcAft>
                <a:spcPts val="400"/>
              </a:spcAft>
              <a:defRPr sz="1100">
                <a:solidFill>
                  <a:srgbClr val="201F1E"/>
                </a:solidFill>
                <a:latin typeface="Segoe UI"/>
              </a:defRPr>
            </a:pPr>
            <a:r>
              <a:t>Type: TXT (Ownership)</a:t>
            </a:r>
            <a:br/>
            <a:r>
              <a:t>Name: @</a:t>
            </a:r>
            <a:br/>
            <a:r>
              <a:t>Value: MS=ms98234851</a:t>
            </a:r>
            <a:br/>
          </a:p>
          <a:p>
            <a:pPr>
              <a:spcAft>
                <a:spcPts val="400"/>
              </a:spcAft>
              <a:defRPr sz="1100">
                <a:solidFill>
                  <a:srgbClr val="201F1E"/>
                </a:solidFill>
                <a:latin typeface="Segoe UI"/>
              </a:defRPr>
            </a:pPr>
            <a:r>
              <a:t>Type: MX (Email routing)</a:t>
            </a:r>
            <a:br/>
            <a:r>
              <a:t>Name: @</a:t>
            </a:r>
            <a:br/>
            <a:r>
              <a:t>Value: lfilab-mail.mail.protection.outlook.com</a:t>
            </a:r>
            <a:br/>
          </a:p>
          <a:p>
            <a:pPr>
              <a:spcAft>
                <a:spcPts val="400"/>
              </a:spcAft>
              <a:defRPr sz="1100">
                <a:solidFill>
                  <a:srgbClr val="201F1E"/>
                </a:solidFill>
                <a:latin typeface="Segoe UI"/>
              </a:defRPr>
            </a:pPr>
            <a:r>
              <a:t>Type: TXT (SPF Security)</a:t>
            </a:r>
            <a:br/>
            <a:r>
              <a:t>Name: @</a:t>
            </a:r>
            <a:br/>
            <a:r>
              <a:t>Value: v=spf1 include:spf.protection.outlook.com -all</a:t>
            </a:r>
            <a:br/>
          </a:p>
          <a:p>
            <a:pPr>
              <a:spcAft>
                <a:spcPts val="400"/>
              </a:spcAft>
              <a:defRPr sz="1100">
                <a:solidFill>
                  <a:srgbClr val="201F1E"/>
                </a:solidFill>
                <a:latin typeface="Segoe UI"/>
              </a:defRPr>
            </a:pPr>
            <a:r>
              <a:t>Type: CNAME (Autodiscover)</a:t>
            </a:r>
            <a:br/>
            <a:r>
              <a:t>Name: autodiscover</a:t>
            </a:r>
            <a:br/>
            <a:r>
              <a:t>Value: autodiscover.outlook.com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SYNC ENGINE</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Microsoft Entra Connect Introduction</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Entra Connect bridges local Active Directory.</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Installed on primary domain controller DC01.</a:t>
            </a:r>
            <a:r>
              <a:rPr b="0">
                <a:solidFill>
                  <a:srgbClr val="201F1E"/>
                </a:solidFill>
                <a:latin typeface="Segoe UI"/>
              </a:rPr>
              <a:t/>
            </a:r>
          </a:p>
          <a:p>
            <a:pPr lvl="1">
              <a:spcAft>
                <a:spcPts val="600"/>
              </a:spcAft>
              <a:defRPr sz="1600">
                <a:solidFill>
                  <a:srgbClr val="201F1E"/>
                </a:solidFill>
                <a:latin typeface="Segoe UI"/>
              </a:defRPr>
            </a:pPr>
            <a:r>
              <a:t>Synchronizes user accounts and security groups.</a:t>
            </a:r>
          </a:p>
          <a:p>
            <a:pPr lvl="1">
              <a:spcAft>
                <a:spcPts val="600"/>
              </a:spcAft>
              <a:defRPr sz="1600">
                <a:solidFill>
                  <a:srgbClr val="201F1E"/>
                </a:solidFill>
                <a:latin typeface="Segoe UI"/>
              </a:defRPr>
            </a:pPr>
            <a:r>
              <a:t>Updates user attributes in the cloud.</a:t>
            </a:r>
          </a:p>
          <a:p>
            <a:pPr lvl="1">
              <a:spcAft>
                <a:spcPts val="600"/>
              </a:spcAft>
              <a:defRPr sz="1600">
                <a:solidFill>
                  <a:srgbClr val="201F1E"/>
                </a:solidFill>
                <a:latin typeface="Segoe UI"/>
              </a:defRPr>
            </a:pPr>
            <a:r>
              <a:t>De-provisions users disabled or deleted locally.</a:t>
            </a:r>
          </a:p>
          <a:p>
            <a:pPr>
              <a:spcAft>
                <a:spcPts val="1000"/>
              </a:spcAft>
              <a:defRPr sz="1800">
                <a:solidFill>
                  <a:srgbClr val="201F1E"/>
                </a:solidFill>
                <a:latin typeface="Segoe UI"/>
              </a:defRPr>
            </a:pPr>
            <a:r>
              <a:rPr b="1">
                <a:solidFill>
                  <a:srgbClr val="002060"/>
                </a:solidFill>
                <a:latin typeface="Segoe UI"/>
              </a:rPr>
              <a:t>Active Directory remains authoritative source master.</a:t>
            </a:r>
            <a:r>
              <a:rPr b="0">
                <a:solidFill>
                  <a:srgbClr val="201F1E"/>
                </a:solidFill>
                <a:latin typeface="Segoe UI"/>
              </a:rPr>
              <a:t/>
            </a:r>
          </a:p>
          <a:p>
            <a:pPr/>
            <a:r>
              <a:rPr b="1">
                <a:solidFill>
                  <a:srgbClr val="002060"/>
                </a:solidFill>
                <a:latin typeface="Segoe UI"/>
              </a:rPr>
              <a:t>Synchronization is one-way from on-premises.</a:t>
            </a:r>
          </a:p>
        </p:txBody>
      </p:sp>
      <p:sp>
        <p:nvSpPr>
          <p:cNvPr id="6" name="Rounded Rectangle 5"/>
          <p:cNvSpPr/>
          <p:nvPr/>
        </p:nvSpPr>
        <p:spPr>
          <a:xfrm>
            <a:off x="6949440" y="2011680"/>
            <a:ext cx="4480560" cy="347472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002060"/>
                </a:solidFill>
                <a:latin typeface="Segoe UI"/>
              </a:defRPr>
            </a:pPr>
            <a:r>
              <a:t>🔄 Directory Sync Bridge</a:t>
            </a:r>
          </a:p>
        </p:txBody>
      </p:sp>
      <p:sp>
        <p:nvSpPr>
          <p:cNvPr id="7" name="Rounded Rectangle 6"/>
          <p:cNvSpPr/>
          <p:nvPr/>
        </p:nvSpPr>
        <p:spPr>
          <a:xfrm>
            <a:off x="7223760" y="2743200"/>
            <a:ext cx="1097280" cy="137160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2880360"/>
            <a:ext cx="822960" cy="1097280"/>
          </a:xfrm>
          <a:prstGeom prst="rect">
            <a:avLst/>
          </a:prstGeom>
          <a:noFill/>
        </p:spPr>
        <p:txBody>
          <a:bodyPr wrap="square">
            <a:spAutoFit/>
          </a:bodyPr>
          <a:lstStyle/>
          <a:p>
            <a:pPr algn="ctr">
              <a:spcAft>
                <a:spcPts val="800"/>
              </a:spcAft>
              <a:defRPr sz="1200" b="1">
                <a:solidFill>
                  <a:srgbClr val="002060"/>
                </a:solidFill>
                <a:latin typeface="Segoe UI"/>
              </a:defRPr>
            </a:pPr>
            <a:r>
              <a:t>On-Prem</a:t>
            </a:r>
            <a:br/>
            <a:r>
              <a:t>AD</a:t>
            </a:r>
          </a:p>
          <a:p>
            <a:pPr>
              <a:spcAft>
                <a:spcPts val="400"/>
              </a:spcAft>
              <a:defRPr sz="1200">
                <a:solidFill>
                  <a:srgbClr val="201F1E"/>
                </a:solidFill>
                <a:latin typeface="Segoe UI"/>
              </a:defRPr>
            </a:pPr>
            <a:r>
              <a:t>LFI-AD.local</a:t>
            </a:r>
          </a:p>
        </p:txBody>
      </p:sp>
      <p:sp>
        <p:nvSpPr>
          <p:cNvPr id="9" name="Right Arrow 8"/>
          <p:cNvSpPr/>
          <p:nvPr/>
        </p:nvSpPr>
        <p:spPr>
          <a:xfrm>
            <a:off x="8412480" y="3291840"/>
            <a:ext cx="36576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0" y="2651760"/>
            <a:ext cx="1188720" cy="155448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6840" y="2788920"/>
            <a:ext cx="914400" cy="1280160"/>
          </a:xfrm>
          <a:prstGeom prst="rect">
            <a:avLst/>
          </a:prstGeom>
          <a:noFill/>
        </p:spPr>
        <p:txBody>
          <a:bodyPr wrap="square">
            <a:spAutoFit/>
          </a:bodyPr>
          <a:lstStyle/>
          <a:p>
            <a:pPr algn="ctr">
              <a:spcAft>
                <a:spcPts val="800"/>
              </a:spcAft>
              <a:defRPr sz="1200" b="1">
                <a:solidFill>
                  <a:srgbClr val="002060"/>
                </a:solidFill>
                <a:latin typeface="Segoe UI"/>
              </a:defRPr>
            </a:pPr>
            <a:r>
              <a:t>Entra</a:t>
            </a:r>
            <a:br/>
            <a:r>
              <a:t>Connect</a:t>
            </a:r>
          </a:p>
          <a:p>
            <a:pPr>
              <a:spcAft>
                <a:spcPts val="400"/>
              </a:spcAft>
              <a:defRPr sz="1200">
                <a:solidFill>
                  <a:srgbClr val="201F1E"/>
                </a:solidFill>
                <a:latin typeface="Segoe UI"/>
              </a:defRPr>
            </a:pPr>
            <a:r>
              <a:t>Sync Engine</a:t>
            </a:r>
          </a:p>
          <a:p>
            <a:pPr>
              <a:spcAft>
                <a:spcPts val="400"/>
              </a:spcAft>
              <a:defRPr sz="1200">
                <a:solidFill>
                  <a:srgbClr val="201F1E"/>
                </a:solidFill>
                <a:latin typeface="Segoe UI"/>
              </a:defRPr>
            </a:pPr>
            <a:r>
              <a:t>Installed</a:t>
            </a:r>
          </a:p>
          <a:p>
            <a:pPr>
              <a:spcAft>
                <a:spcPts val="400"/>
              </a:spcAft>
              <a:defRPr sz="1200">
                <a:solidFill>
                  <a:srgbClr val="201F1E"/>
                </a:solidFill>
                <a:latin typeface="Segoe UI"/>
              </a:defRPr>
            </a:pPr>
            <a:r>
              <a:t>on DC01</a:t>
            </a:r>
          </a:p>
        </p:txBody>
      </p:sp>
      <p:sp>
        <p:nvSpPr>
          <p:cNvPr id="12" name="Right Arrow 11"/>
          <p:cNvSpPr/>
          <p:nvPr/>
        </p:nvSpPr>
        <p:spPr>
          <a:xfrm>
            <a:off x="10149840" y="3291840"/>
            <a:ext cx="36576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607040" y="2743200"/>
            <a:ext cx="640080" cy="137160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2880360"/>
            <a:ext cx="365760" cy="1097280"/>
          </a:xfrm>
          <a:prstGeom prst="rect">
            <a:avLst/>
          </a:prstGeom>
          <a:noFill/>
        </p:spPr>
        <p:txBody>
          <a:bodyPr wrap="square">
            <a:spAutoFit/>
          </a:bodyPr>
          <a:lstStyle/>
          <a:p>
            <a:pPr algn="ctr">
              <a:spcAft>
                <a:spcPts val="800"/>
              </a:spcAft>
              <a:defRPr sz="1200" b="1">
                <a:solidFill>
                  <a:srgbClr val="002060"/>
                </a:solidFill>
                <a:latin typeface="Segoe UI"/>
              </a:defRPr>
            </a:pPr>
            <a:r>
              <a:t>Cloud</a:t>
            </a:r>
            <a:br/>
            <a:r>
              <a:t>M365</a:t>
            </a:r>
          </a:p>
          <a:p>
            <a:pPr>
              <a:spcAft>
                <a:spcPts val="400"/>
              </a:spcAft>
              <a:defRPr sz="1200">
                <a:solidFill>
                  <a:srgbClr val="201F1E"/>
                </a:solidFill>
                <a:latin typeface="Segoe UI"/>
              </a:defRPr>
            </a:pPr>
            <a:r>
              <a:t>Entra 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SECURITY &amp; SIGN-IN</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Password Hash Synchronization (PHS)</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PHS synchronizes password representations to Entra.</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Plaintext passwords never enter the cloud.</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Sync engine hashes local NTLM hashes.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Uses salted SHA-256 with thousand iterations.</a:t>
            </a:r>
            <a:r>
              <a:rPr b="0">
                <a:solidFill>
                  <a:srgbClr val="201F1E"/>
                </a:solidFill>
                <a:latin typeface="Segoe UI"/>
              </a:rPr>
              <a:t/>
            </a:r>
          </a:p>
          <a:p>
            <a:pPr/>
            <a:r>
              <a:rPr b="1">
                <a:solidFill>
                  <a:srgbClr val="002060"/>
                </a:solidFill>
                <a:latin typeface="Segoe UI"/>
              </a:rPr>
              <a:t>Enables login during local network outages.</a:t>
            </a:r>
          </a:p>
          <a:p>
            <a:pPr/>
            <a:r>
              <a:rPr b="1">
                <a:solidFill>
                  <a:srgbClr val="002060"/>
                </a:solidFill>
                <a:latin typeface="Segoe UI"/>
              </a:rPr>
              <a:t>Requires zero inbound local firewall ports.</a:t>
            </a:r>
          </a:p>
        </p:txBody>
      </p:sp>
      <p:sp>
        <p:nvSpPr>
          <p:cNvPr id="6" name="Rounded Rectangle 5"/>
          <p:cNvSpPr/>
          <p:nvPr/>
        </p:nvSpPr>
        <p:spPr>
          <a:xfrm>
            <a:off x="7132320" y="1645920"/>
            <a:ext cx="4297680" cy="2011680"/>
          </a:xfrm>
          <a:prstGeom prst="roundRect">
            <a:avLst/>
          </a:prstGeom>
          <a:solidFill>
            <a:srgbClr val="EFF6FC"/>
          </a:solidFill>
          <a:ln w="19050">
            <a:solidFill>
              <a:srgbClr val="005A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645920"/>
            <a:ext cx="109728" cy="201168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783080"/>
            <a:ext cx="3931920" cy="1737360"/>
          </a:xfrm>
          <a:prstGeom prst="rect">
            <a:avLst/>
          </a:prstGeom>
          <a:noFill/>
        </p:spPr>
        <p:txBody>
          <a:bodyPr wrap="square">
            <a:spAutoFit/>
          </a:bodyPr>
          <a:lstStyle/>
          <a:p>
            <a:pPr>
              <a:spcAft>
                <a:spcPts val="600"/>
              </a:spcAft>
              <a:defRPr sz="1400" b="1">
                <a:solidFill>
                  <a:srgbClr val="0078D4"/>
                </a:solidFill>
                <a:latin typeface="Segoe UI"/>
              </a:defRPr>
            </a:pPr>
            <a:r>
              <a:rPr>
                <a:solidFill/>
              </a:rPr>
              <a:t>💡 REAL-WORLD ANALOGY</a:t>
            </a:r>
          </a:p>
          <a:p>
            <a:pPr>
              <a:spcAft>
                <a:spcPts val="0"/>
              </a:spcAft>
              <a:defRPr sz="1300">
                <a:solidFill>
                  <a:srgbClr val="201F1E"/>
                </a:solidFill>
                <a:latin typeface="Segoe UI"/>
              </a:defRPr>
            </a:pPr>
            <a:r>
              <a:t>Send key photograph instead of key.</a:t>
            </a:r>
          </a:p>
          <a:p>
            <a:pPr/>
            <a:r>
              <a:t>Lock verifies key from the photograph.</a:t>
            </a:r>
          </a:p>
          <a:p>
            <a:pPr/>
            <a:r>
              <a:t>Photograph cannot reconstruct the physical key.</a:t>
            </a:r>
          </a:p>
        </p:txBody>
      </p:sp>
      <p:sp>
        <p:nvSpPr>
          <p:cNvPr id="9" name="Rounded Rectangle 8"/>
          <p:cNvSpPr/>
          <p:nvPr/>
        </p:nvSpPr>
        <p:spPr>
          <a:xfrm>
            <a:off x="7132320" y="3840480"/>
            <a:ext cx="4297680" cy="219456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002060"/>
                </a:solidFill>
                <a:latin typeface="Segoe UI"/>
              </a:defRPr>
            </a:pPr>
            <a:r>
              <a:t>🔒 Password Hash Sync Flow</a:t>
            </a:r>
          </a:p>
          <a:p>
            <a:pPr>
              <a:spcAft>
                <a:spcPts val="200"/>
              </a:spcAft>
              <a:defRPr sz="1000">
                <a:solidFill>
                  <a:srgbClr val="201F1E"/>
                </a:solidFill>
                <a:latin typeface="Segoe UI"/>
              </a:defRPr>
            </a:pPr>
            <a:r>
              <a:t>User enters password on local workstation.</a:t>
            </a:r>
          </a:p>
          <a:p>
            <a:pPr>
              <a:spcAft>
                <a:spcPts val="200"/>
              </a:spcAft>
              <a:defRPr sz="1000">
                <a:solidFill>
                  <a:srgbClr val="201F1E"/>
                </a:solidFill>
                <a:latin typeface="Segoe UI"/>
              </a:defRPr>
            </a:pPr>
            <a:r>
              <a:t>Active Directory stores NTLM hash representation.</a:t>
            </a:r>
          </a:p>
          <a:p>
            <a:pPr>
              <a:spcAft>
                <a:spcPts val="200"/>
              </a:spcAft>
              <a:defRPr sz="1000">
                <a:solidFill>
                  <a:srgbClr val="201F1E"/>
                </a:solidFill>
                <a:latin typeface="Segoe UI"/>
              </a:defRPr>
            </a:pPr>
            <a:r>
              <a:t>Sync engine salts and runs SHA-256.</a:t>
            </a:r>
          </a:p>
          <a:p>
            <a:pPr>
              <a:spcAft>
                <a:spcPts val="200"/>
              </a:spcAft>
              <a:defRPr sz="1000">
                <a:solidFill>
                  <a:srgbClr val="201F1E"/>
                </a:solidFill>
                <a:latin typeface="Segoe UI"/>
              </a:defRPr>
            </a:pPr>
            <a:r>
              <a:t>Cloud stores final SHA-256 hash representation.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SYNC OPERATIONS</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User Synchronization Process</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Scheduler triggers synchronization every thirty minutes.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Delta sync queries only recent modifications.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Full sync scans every directory object.</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Administrators can manually trigger directory synchronization.</a:t>
            </a:r>
            <a:r>
              <a:rPr b="0">
                <a:solidFill>
                  <a:srgbClr val="201F1E"/>
                </a:solidFill>
                <a:latin typeface="Segoe UI"/>
              </a:rPr>
              <a:t/>
            </a:r>
          </a:p>
          <a:p>
            <a:pPr/>
            <a:r>
              <a:rPr b="1">
                <a:solidFill>
                  <a:srgbClr val="002060"/>
                </a:solidFill>
                <a:latin typeface="Segoe UI"/>
              </a:rPr>
              <a:t>PowerShell bypasses default sync schedule timer.</a:t>
            </a:r>
          </a:p>
        </p:txBody>
      </p:sp>
      <p:sp>
        <p:nvSpPr>
          <p:cNvPr id="6" name="TextBox 5"/>
          <p:cNvSpPr txBox="1"/>
          <p:nvPr/>
        </p:nvSpPr>
        <p:spPr>
          <a:xfrm>
            <a:off x="914400" y="4754880"/>
            <a:ext cx="5486400" cy="1371600"/>
          </a:xfrm>
          <a:prstGeom prst="rect">
            <a:avLst/>
          </a:prstGeom>
          <a:noFill/>
        </p:spPr>
        <p:txBody>
          <a:bodyPr wrap="square">
            <a:spAutoFit/>
          </a:bodyPr>
          <a:lstStyle/>
          <a:p>
            <a:pPr>
              <a:defRPr sz="1400" b="1">
                <a:solidFill>
                  <a:srgbClr val="002060"/>
                </a:solidFill>
                <a:latin typeface="Consolas"/>
              </a:defRPr>
            </a:pPr>
            <a:r>
              <a:t>Start-ADSyncSyncCycle -PolicyType Delta</a:t>
            </a:r>
          </a:p>
        </p:txBody>
      </p:sp>
      <p:sp>
        <p:nvSpPr>
          <p:cNvPr id="7" name="Rounded Rectangle 6"/>
          <p:cNvSpPr/>
          <p:nvPr/>
        </p:nvSpPr>
        <p:spPr>
          <a:xfrm>
            <a:off x="7132320" y="1645920"/>
            <a:ext cx="4297680" cy="438912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02060"/>
                </a:solidFill>
                <a:latin typeface="Segoe UI"/>
              </a:defRPr>
            </a:pPr>
            <a:r>
              <a:t>📈 Lifecycle of a Synced User</a:t>
            </a:r>
          </a:p>
          <a:p>
            <a:pPr>
              <a:spcAft>
                <a:spcPts val="600"/>
              </a:spcAft>
              <a:defRPr sz="1050">
                <a:solidFill>
                  <a:srgbClr val="201F1E"/>
                </a:solidFill>
                <a:latin typeface="Segoe UI"/>
              </a:defRPr>
            </a:pPr>
            <a:r>
              <a:t>Create user in local Active Directory.</a:t>
            </a:r>
            <a:br/>
            <a:r>
              <a:t/>
            </a:r>
          </a:p>
          <a:p>
            <a:pPr>
              <a:spcAft>
                <a:spcPts val="600"/>
              </a:spcAft>
              <a:defRPr sz="1050">
                <a:solidFill>
                  <a:srgbClr val="201F1E"/>
                </a:solidFill>
                <a:latin typeface="Segoe UI"/>
              </a:defRPr>
            </a:pPr>
            <a:r>
              <a:t>Sync scheduler scans directory for changes.</a:t>
            </a:r>
            <a:br/>
            <a:r>
              <a:t/>
            </a:r>
          </a:p>
          <a:p>
            <a:pPr>
              <a:spcAft>
                <a:spcPts val="600"/>
              </a:spcAft>
              <a:defRPr sz="1050">
                <a:solidFill>
                  <a:srgbClr val="201F1E"/>
                </a:solidFill>
                <a:latin typeface="Segoe UI"/>
              </a:defRPr>
            </a:pPr>
            <a:r>
              <a:t>Sync engine uploads user metadata.</a:t>
            </a:r>
            <a:br/>
            <a:r>
              <a:t/>
            </a:r>
          </a:p>
          <a:p>
            <a:pPr>
              <a:spcAft>
                <a:spcPts val="600"/>
              </a:spcAft>
              <a:defRPr sz="1050">
                <a:solidFill>
                  <a:srgbClr val="201F1E"/>
                </a:solidFill>
                <a:latin typeface="Segoe UI"/>
              </a:defRPr>
            </a:pPr>
            <a:r>
              <a:t>User appears in cloud administration portal.</a:t>
            </a:r>
            <a:br/>
            <a: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LAB VERIFICATION</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Verification of Synced Users</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Verify sync status in admin portal.</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Column indicates synced from on-premises directory.</a:t>
            </a:r>
            <a:r>
              <a:rPr b="0">
                <a:solidFill>
                  <a:srgbClr val="201F1E"/>
                </a:solidFill>
                <a:latin typeface="Segoe UI"/>
              </a:rPr>
              <a:t/>
            </a:r>
          </a:p>
          <a:p>
            <a:pPr lvl="1">
              <a:spcAft>
                <a:spcPts val="600"/>
              </a:spcAft>
              <a:defRPr sz="1600">
                <a:solidFill>
                  <a:srgbClr val="201F1E"/>
                </a:solidFill>
                <a:latin typeface="Segoe UI"/>
              </a:defRPr>
            </a:pPr>
            <a:r>
              <a:t>Sync attribute is marked as enabled.</a:t>
            </a:r>
          </a:p>
          <a:p>
            <a:pPr lvl="1">
              <a:spcAft>
                <a:spcPts val="600"/>
              </a:spcAft>
              <a:defRPr sz="1600">
                <a:solidFill>
                  <a:srgbClr val="201F1E"/>
                </a:solidFill>
                <a:latin typeface="Segoe UI"/>
              </a:defRPr>
            </a:pPr>
            <a:r>
              <a:t>Four test user accounts verified online.</a:t>
            </a:r>
          </a:p>
          <a:p>
            <a:pPr>
              <a:spcAft>
                <a:spcPts val="1000"/>
              </a:spcAft>
              <a:defRPr sz="1800">
                <a:solidFill>
                  <a:srgbClr val="201F1E"/>
                </a:solidFill>
                <a:latin typeface="Segoe UI"/>
              </a:defRPr>
            </a:pPr>
            <a:r>
              <a:rPr b="1">
                <a:solidFill>
                  <a:srgbClr val="002060"/>
                </a:solidFill>
                <a:latin typeface="Segoe UI"/>
              </a:rPr>
              <a:t>Cloud portal displays read-only status banner.</a:t>
            </a:r>
            <a:r>
              <a:rPr b="0">
                <a:solidFill>
                  <a:srgbClr val="201F1E"/>
                </a:solidFill>
                <a:latin typeface="Segoe UI"/>
              </a:rPr>
              <a:t/>
            </a:r>
          </a:p>
          <a:p>
            <a:pPr lvl="1">
              <a:spcAft>
                <a:spcPts val="600"/>
              </a:spcAft>
              <a:defRPr sz="1600">
                <a:solidFill>
                  <a:srgbClr val="201F1E"/>
                </a:solidFill>
                <a:latin typeface="Segoe UI"/>
              </a:defRPr>
            </a:pPr>
            <a:r>
              <a:t>Edit synced properties using local console.</a:t>
            </a:r>
          </a:p>
        </p:txBody>
      </p:sp>
      <p:sp>
        <p:nvSpPr>
          <p:cNvPr id="6" name="Rounded Rectangle 5"/>
          <p:cNvSpPr/>
          <p:nvPr/>
        </p:nvSpPr>
        <p:spPr>
          <a:xfrm>
            <a:off x="6949440" y="2011680"/>
            <a:ext cx="4480560" cy="347472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002060"/>
                </a:solidFill>
                <a:latin typeface="Segoe UI"/>
              </a:defRPr>
            </a:pPr>
            <a:r>
              <a:t>💻 Microsoft 365 Users Portal</a:t>
            </a:r>
          </a:p>
        </p:txBody>
      </p:sp>
      <p:sp>
        <p:nvSpPr>
          <p:cNvPr id="7" name="Rounded Rectangle 6"/>
          <p:cNvSpPr/>
          <p:nvPr/>
        </p:nvSpPr>
        <p:spPr>
          <a:xfrm>
            <a:off x="7132320" y="2651760"/>
            <a:ext cx="4114800" cy="2468880"/>
          </a:xfrm>
          <a:prstGeom prst="roundRect">
            <a:avLst/>
          </a:prstGeom>
          <a:solidFill>
            <a:srgbClr val="FFFFFF"/>
          </a:solidFill>
          <a:ln w="12700">
            <a:solidFill>
              <a:srgbClr val="106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2788920"/>
            <a:ext cx="3840480" cy="2194560"/>
          </a:xfrm>
          <a:prstGeom prst="rect">
            <a:avLst/>
          </a:prstGeom>
          <a:noFill/>
        </p:spPr>
        <p:txBody>
          <a:bodyPr wrap="square">
            <a:spAutoFit/>
          </a:bodyPr>
          <a:lstStyle/>
          <a:p>
            <a:pPr>
              <a:spcAft>
                <a:spcPts val="800"/>
              </a:spcAft>
              <a:defRPr sz="1200" b="1">
                <a:solidFill>
                  <a:srgbClr val="002060"/>
                </a:solidFill>
                <a:latin typeface="Segoe UI"/>
              </a:defRPr>
            </a:pPr>
            <a:r>
              <a:t>Active Users List</a:t>
            </a:r>
          </a:p>
          <a:p>
            <a:pPr>
              <a:spcAft>
                <a:spcPts val="400"/>
              </a:spcAft>
              <a:defRPr sz="1200">
                <a:solidFill>
                  <a:srgbClr val="201F1E"/>
                </a:solidFill>
                <a:latin typeface="Segoe UI"/>
              </a:defRPr>
            </a:pPr>
            <a:r>
              <a:t>Display Name  | Username              | Sync Status</a:t>
            </a:r>
          </a:p>
          <a:p>
            <a:pPr>
              <a:spcAft>
                <a:spcPts val="400"/>
              </a:spcAft>
              <a:defRPr sz="1200">
                <a:solidFill>
                  <a:srgbClr val="107C41"/>
                </a:solidFill>
                <a:latin typeface="Segoe UI"/>
              </a:defRPr>
            </a:pPr>
            <a:r>
              <a:t>--------------------------------------------------</a:t>
            </a:r>
          </a:p>
          <a:p>
            <a:pPr>
              <a:spcAft>
                <a:spcPts val="400"/>
              </a:spcAft>
              <a:defRPr sz="1200">
                <a:solidFill>
                  <a:srgbClr val="107C41"/>
                </a:solidFill>
                <a:latin typeface="Segoe UI"/>
              </a:defRPr>
            </a:pPr>
            <a:r>
              <a:t>👤 User 01    | user01@cybertron.site | On-Prem Synced</a:t>
            </a:r>
          </a:p>
          <a:p>
            <a:pPr>
              <a:spcAft>
                <a:spcPts val="400"/>
              </a:spcAft>
              <a:defRPr sz="1200">
                <a:solidFill>
                  <a:srgbClr val="201F1E"/>
                </a:solidFill>
                <a:latin typeface="Segoe UI"/>
              </a:defRPr>
            </a:pPr>
            <a:r>
              <a:t>👤 User 02    | user02@cybertron.site | On-Prem Synced</a:t>
            </a:r>
          </a:p>
          <a:p>
            <a:pPr>
              <a:spcAft>
                <a:spcPts val="400"/>
              </a:spcAft>
              <a:defRPr sz="1200">
                <a:solidFill>
                  <a:srgbClr val="201F1E"/>
                </a:solidFill>
                <a:latin typeface="Segoe UI"/>
              </a:defRPr>
            </a:pPr>
            <a:r>
              <a:t>👤 User 03    | user03@cybertron.site | On-Prem Synced</a:t>
            </a:r>
          </a:p>
          <a:p>
            <a:pPr>
              <a:spcAft>
                <a:spcPts val="400"/>
              </a:spcAft>
              <a:defRPr sz="1200">
                <a:solidFill>
                  <a:srgbClr val="201F1E"/>
                </a:solidFill>
                <a:latin typeface="Segoe UI"/>
              </a:defRPr>
            </a:pPr>
            <a:r>
              <a:t>👤 User 04    | user04@cybertron.site | On-Prem Synced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CLOUD LICENSING</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Microsoft 365 Licensing</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Synchronization authenticates users in directory.</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Users require licenses accessing cloud apps.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Synced users assigned Developer E5 licenses.</a:t>
            </a:r>
            <a:r>
              <a:rPr b="0">
                <a:solidFill>
                  <a:srgbClr val="201F1E"/>
                </a:solidFill>
                <a:latin typeface="Segoe UI"/>
              </a:rPr>
              <a:t/>
            </a:r>
          </a:p>
          <a:p>
            <a:pPr lvl="1">
              <a:spcAft>
                <a:spcPts val="600"/>
              </a:spcAft>
              <a:defRPr sz="1600">
                <a:solidFill>
                  <a:srgbClr val="201F1E"/>
                </a:solidFill>
                <a:latin typeface="Segoe UI"/>
              </a:defRPr>
            </a:pPr>
            <a:r>
              <a:t>Exchange Online provides fifty-gigabyte mailbox storage.</a:t>
            </a:r>
          </a:p>
          <a:p>
            <a:pPr lvl="1">
              <a:spcAft>
                <a:spcPts val="600"/>
              </a:spcAft>
              <a:defRPr sz="1600">
                <a:solidFill>
                  <a:srgbClr val="201F1E"/>
                </a:solidFill>
                <a:latin typeface="Segoe UI"/>
              </a:defRPr>
            </a:pPr>
            <a:r>
              <a:t>Teams enables real-time collaboration and calls.</a:t>
            </a:r>
          </a:p>
          <a:p>
            <a:pPr lvl="1">
              <a:spcAft>
                <a:spcPts val="600"/>
              </a:spcAft>
              <a:defRPr sz="1600">
                <a:solidFill>
                  <a:srgbClr val="201F1E"/>
                </a:solidFill>
                <a:latin typeface="Segoe UI"/>
              </a:defRPr>
            </a:pPr>
            <a:r>
              <a:t>SharePoint and OneDrive provide cloud storage.</a:t>
            </a:r>
          </a:p>
          <a:p>
            <a:pPr lvl="1">
              <a:spcAft>
                <a:spcPts val="600"/>
              </a:spcAft>
              <a:defRPr sz="1600">
                <a:solidFill>
                  <a:srgbClr val="201F1E"/>
                </a:solidFill>
                <a:latin typeface="Segoe UI"/>
              </a:defRPr>
            </a:pPr>
            <a:r>
              <a:t>Defender implements cloud security audit protections.</a:t>
            </a:r>
          </a:p>
        </p:txBody>
      </p:sp>
      <p:sp>
        <p:nvSpPr>
          <p:cNvPr id="6" name="Rounded Rectangle 5"/>
          <p:cNvSpPr/>
          <p:nvPr/>
        </p:nvSpPr>
        <p:spPr>
          <a:xfrm>
            <a:off x="7132320" y="1828800"/>
            <a:ext cx="4297680" cy="3657600"/>
          </a:xfrm>
          <a:prstGeom prst="roundRect">
            <a:avLst/>
          </a:prstGeom>
          <a:solidFill>
            <a:srgbClr val="EFF6FC"/>
          </a:solidFill>
          <a:ln w="19050">
            <a:solidFill>
              <a:srgbClr val="005A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28800"/>
            <a:ext cx="109728" cy="365760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965960"/>
            <a:ext cx="3931920" cy="3383280"/>
          </a:xfrm>
          <a:prstGeom prst="rect">
            <a:avLst/>
          </a:prstGeom>
          <a:noFill/>
        </p:spPr>
        <p:txBody>
          <a:bodyPr wrap="square">
            <a:spAutoFit/>
          </a:bodyPr>
          <a:lstStyle/>
          <a:p>
            <a:pPr>
              <a:spcAft>
                <a:spcPts val="600"/>
              </a:spcAft>
              <a:defRPr sz="1400" b="1">
                <a:solidFill>
                  <a:srgbClr val="0078D4"/>
                </a:solidFill>
                <a:latin typeface="Segoe UI"/>
              </a:defRPr>
            </a:pPr>
            <a:r>
              <a:rPr>
                <a:solidFill/>
              </a:rPr>
              <a:t>💡 REAL-WORLD ANALOGY</a:t>
            </a:r>
          </a:p>
          <a:p>
            <a:pPr>
              <a:spcAft>
                <a:spcPts val="0"/>
              </a:spcAft>
              <a:defRPr sz="1300">
                <a:solidFill>
                  <a:srgbClr val="201F1E"/>
                </a:solidFill>
                <a:latin typeface="Segoe UI"/>
              </a:defRPr>
            </a:pPr>
            <a:r>
              <a:t>Ticket gets users inside the concert.</a:t>
            </a:r>
          </a:p>
          <a:p>
            <a:pPr/>
            <a:r>
              <a:t>Wristband unlocks rides and VIP areas.</a:t>
            </a:r>
          </a:p>
          <a:p>
            <a:pPr/>
            <a:r>
              <a:t>Licensing works like a concert wristband.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SSO VERIFICATION</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Login Demonstration</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94360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Run end-to-end user login testing.</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Navigate web browser to portal.office.com.</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Enter configured public UPN login address.</a:t>
            </a:r>
            <a:r>
              <a:rPr b="0">
                <a:solidFill>
                  <a:srgbClr val="201F1E"/>
                </a:solidFill>
                <a:latin typeface="Segoe UI"/>
              </a:rPr>
              <a:t/>
            </a:r>
          </a:p>
          <a:p>
            <a:pPr lvl="1">
              <a:spcAft>
                <a:spcPts val="600"/>
              </a:spcAft>
              <a:defRPr sz="1600">
                <a:solidFill>
                  <a:srgbClr val="201F1E"/>
                </a:solidFill>
                <a:latin typeface="Segoe UI"/>
              </a:defRPr>
            </a:pPr>
            <a:r>
              <a:t>Input local Active Directory domain password.</a:t>
            </a:r>
          </a:p>
          <a:p>
            <a:pPr lvl="1">
              <a:spcAft>
                <a:spcPts val="600"/>
              </a:spcAft>
              <a:defRPr sz="1600">
                <a:solidFill>
                  <a:srgbClr val="201F1E"/>
                </a:solidFill>
                <a:latin typeface="Segoe UI"/>
              </a:defRPr>
            </a:pPr>
            <a:r>
              <a:t>Cloud portal accepts credentials immediately.</a:t>
            </a:r>
          </a:p>
          <a:p>
            <a:pPr>
              <a:spcAft>
                <a:spcPts val="1000"/>
              </a:spcAft>
              <a:defRPr sz="1800">
                <a:solidFill>
                  <a:srgbClr val="201F1E"/>
                </a:solidFill>
                <a:latin typeface="Segoe UI"/>
              </a:defRPr>
            </a:pPr>
            <a:r>
              <a:rPr b="1">
                <a:solidFill>
                  <a:srgbClr val="002060"/>
                </a:solidFill>
                <a:latin typeface="Segoe UI"/>
              </a:rPr>
              <a:t>Successful login redirects to user homepage.</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Matches logins for corporate and cloud.</a:t>
            </a:r>
            <a:r>
              <a:rPr b="0">
                <a:solidFill>
                  <a:srgbClr val="201F1E"/>
                </a:solidFill>
                <a:latin typeface="Segoe UI"/>
              </a:rPr>
              <a:t/>
            </a:r>
          </a:p>
        </p:txBody>
      </p:sp>
      <p:sp>
        <p:nvSpPr>
          <p:cNvPr id="6" name="Rounded Rectangle 5"/>
          <p:cNvSpPr/>
          <p:nvPr/>
        </p:nvSpPr>
        <p:spPr>
          <a:xfrm>
            <a:off x="6949440" y="1828800"/>
            <a:ext cx="4480560" cy="3840480"/>
          </a:xfrm>
          <a:prstGeom prst="roundRect">
            <a:avLst/>
          </a:prstGeom>
          <a:solidFill>
            <a:srgbClr val="F3F6FC"/>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sz="1600" b="1">
                <a:solidFill>
                  <a:srgbClr val="002060"/>
                </a:solidFill>
                <a:latin typeface="Segoe UI"/>
              </a:defRPr>
            </a:pPr>
            <a:r>
              <a:t>🔐 Microsoft Sign-In Demonstration</a:t>
            </a:r>
          </a:p>
        </p:txBody>
      </p:sp>
      <p:sp>
        <p:nvSpPr>
          <p:cNvPr id="7" name="Rounded Rectangle 6"/>
          <p:cNvSpPr/>
          <p:nvPr/>
        </p:nvSpPr>
        <p:spPr>
          <a:xfrm>
            <a:off x="7223760" y="2468880"/>
            <a:ext cx="3931920" cy="2926080"/>
          </a:xfrm>
          <a:prstGeom prst="roundRect">
            <a:avLst/>
          </a:prstGeom>
          <a:solidFill>
            <a:srgbClr val="FFFFFF"/>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2606040"/>
            <a:ext cx="3657600" cy="2651760"/>
          </a:xfrm>
          <a:prstGeom prst="rect">
            <a:avLst/>
          </a:prstGeom>
          <a:noFill/>
        </p:spPr>
        <p:txBody>
          <a:bodyPr wrap="square">
            <a:spAutoFit/>
          </a:bodyPr>
          <a:lstStyle/>
          <a:p>
            <a:pPr>
              <a:spcAft>
                <a:spcPts val="800"/>
              </a:spcAft>
              <a:defRPr sz="1400" b="1">
                <a:solidFill>
                  <a:srgbClr val="002060"/>
                </a:solidFill>
                <a:latin typeface="Segoe UI"/>
              </a:defRPr>
            </a:pPr>
            <a:r>
              <a:t>Sign in Screen</a:t>
            </a:r>
          </a:p>
          <a:p>
            <a:pPr>
              <a:spcAft>
                <a:spcPts val="400"/>
              </a:spcAft>
              <a:defRPr sz="1200">
                <a:solidFill>
                  <a:srgbClr val="201F1E"/>
                </a:solidFill>
                <a:latin typeface="Segoe UI"/>
              </a:defRPr>
            </a:pPr>
            <a:r>
              <a:t>Microsoft</a:t>
            </a:r>
          </a:p>
          <a:p>
            <a:pPr>
              <a:spcAft>
                <a:spcPts val="400"/>
              </a:spcAft>
              <a:defRPr sz="1200">
                <a:solidFill>
                  <a:srgbClr val="201F1E"/>
                </a:solidFill>
                <a:latin typeface="Segoe UI"/>
              </a:defRPr>
            </a:pPr>
            <a:r>
              <a:t>📧 user01@cybertron.site</a:t>
            </a:r>
          </a:p>
          <a:p>
            <a:pPr>
              <a:spcAft>
                <a:spcPts val="400"/>
              </a:spcAft>
              <a:defRPr sz="1200">
                <a:solidFill>
                  <a:srgbClr val="201F1E"/>
                </a:solidFill>
                <a:latin typeface="Segoe UI"/>
              </a:defRPr>
            </a:pPr>
            <a:r>
              <a:t>🔑 **********</a:t>
            </a:r>
          </a:p>
          <a:p>
            <a:pPr>
              <a:spcAft>
                <a:spcPts val="400"/>
              </a:spcAft>
              <a:defRPr sz="1200">
                <a:solidFill>
                  <a:srgbClr val="201F1E"/>
                </a:solidFill>
                <a:latin typeface="Segoe UI"/>
              </a:defRPr>
            </a:pPr>
            <a:r>
              <a:t>-------------------------</a:t>
            </a:r>
          </a:p>
          <a:p>
            <a:pPr>
              <a:spcAft>
                <a:spcPts val="400"/>
              </a:spcAft>
              <a:defRPr sz="1200" b="1">
                <a:solidFill>
                  <a:srgbClr val="107C41"/>
                </a:solidFill>
                <a:latin typeface="Segoe UI"/>
              </a:defRPr>
            </a:pPr>
            <a:r>
              <a:t>Status: Verification Successful!</a:t>
            </a:r>
          </a:p>
          <a:p>
            <a:pPr>
              <a:spcAft>
                <a:spcPts val="400"/>
              </a:spcAft>
              <a:defRPr sz="1200">
                <a:solidFill>
                  <a:srgbClr val="201F1E"/>
                </a:solidFill>
                <a:latin typeface="Segoe UI"/>
              </a:defRPr>
            </a:pPr>
            <a:r>
              <a:t>User Redirected to M365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END-TO-END OVERVIEW</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Complete Hybrid Identity Architecture</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201168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1737360" cy="1188720"/>
          </a:xfrm>
          <a:prstGeom prst="rect">
            <a:avLst/>
          </a:prstGeom>
          <a:noFill/>
        </p:spPr>
        <p:txBody>
          <a:bodyPr wrap="square">
            <a:spAutoFit/>
          </a:bodyPr>
          <a:lstStyle/>
          <a:p>
            <a:pPr>
              <a:spcAft>
                <a:spcPts val="800"/>
              </a:spcAft>
              <a:defRPr sz="1600" b="1">
                <a:solidFill>
                  <a:srgbClr val="002060"/>
                </a:solidFill>
                <a:latin typeface="Segoe UI"/>
              </a:defRPr>
            </a:pPr>
            <a:r>
              <a:t>1. AD Users</a:t>
            </a:r>
          </a:p>
          <a:p>
            <a:pPr>
              <a:spcAft>
                <a:spcPts val="400"/>
              </a:spcAft>
              <a:defRPr sz="1200">
                <a:solidFill>
                  <a:srgbClr val="201F1E"/>
                </a:solidFill>
                <a:latin typeface="Segoe UI"/>
              </a:defRPr>
            </a:pPr>
            <a:r>
              <a:t>User01-04 created in local directory</a:t>
            </a:r>
          </a:p>
        </p:txBody>
      </p:sp>
      <p:sp>
        <p:nvSpPr>
          <p:cNvPr id="7" name="Rounded Rectangle 6"/>
          <p:cNvSpPr/>
          <p:nvPr/>
        </p:nvSpPr>
        <p:spPr>
          <a:xfrm>
            <a:off x="3383280" y="2011680"/>
            <a:ext cx="237744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2148840"/>
            <a:ext cx="2103120" cy="1188720"/>
          </a:xfrm>
          <a:prstGeom prst="rect">
            <a:avLst/>
          </a:prstGeom>
          <a:noFill/>
        </p:spPr>
        <p:txBody>
          <a:bodyPr wrap="square">
            <a:spAutoFit/>
          </a:bodyPr>
          <a:lstStyle/>
          <a:p>
            <a:pPr>
              <a:spcAft>
                <a:spcPts val="800"/>
              </a:spcAft>
              <a:defRPr sz="1600" b="1">
                <a:solidFill>
                  <a:srgbClr val="002060"/>
                </a:solidFill>
                <a:latin typeface="Segoe UI"/>
              </a:defRPr>
            </a:pPr>
            <a:r>
              <a:t>2. Domain Controllers</a:t>
            </a:r>
          </a:p>
          <a:p>
            <a:pPr>
              <a:spcAft>
                <a:spcPts val="400"/>
              </a:spcAft>
              <a:defRPr sz="1200">
                <a:solidFill>
                  <a:srgbClr val="201F1E"/>
                </a:solidFill>
                <a:latin typeface="Segoe UI"/>
              </a:defRPr>
            </a:pPr>
            <a:r>
              <a:t>DC01 &amp; DC02 (LFI-AD.local)</a:t>
            </a:r>
          </a:p>
        </p:txBody>
      </p:sp>
      <p:sp>
        <p:nvSpPr>
          <p:cNvPr id="9" name="Rounded Rectangle 8"/>
          <p:cNvSpPr/>
          <p:nvPr/>
        </p:nvSpPr>
        <p:spPr>
          <a:xfrm>
            <a:off x="6400800" y="2011680"/>
            <a:ext cx="237744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48840"/>
            <a:ext cx="2103120" cy="1188720"/>
          </a:xfrm>
          <a:prstGeom prst="rect">
            <a:avLst/>
          </a:prstGeom>
          <a:noFill/>
        </p:spPr>
        <p:txBody>
          <a:bodyPr wrap="square">
            <a:spAutoFit/>
          </a:bodyPr>
          <a:lstStyle/>
          <a:p>
            <a:pPr>
              <a:spcAft>
                <a:spcPts val="800"/>
              </a:spcAft>
              <a:defRPr sz="1600" b="1">
                <a:solidFill>
                  <a:srgbClr val="002060"/>
                </a:solidFill>
                <a:latin typeface="Segoe UI"/>
              </a:defRPr>
            </a:pPr>
            <a:r>
              <a:t>3. UPN Suffix Change</a:t>
            </a:r>
          </a:p>
          <a:p>
            <a:pPr>
              <a:spcAft>
                <a:spcPts val="400"/>
              </a:spcAft>
              <a:defRPr sz="1200">
                <a:solidFill>
                  <a:srgbClr val="201F1E"/>
                </a:solidFill>
                <a:latin typeface="Segoe UI"/>
              </a:defRPr>
            </a:pPr>
            <a:r>
              <a:t>Alternative suffix: cybertron.site</a:t>
            </a:r>
          </a:p>
        </p:txBody>
      </p:sp>
      <p:sp>
        <p:nvSpPr>
          <p:cNvPr id="11" name="Rounded Rectangle 10"/>
          <p:cNvSpPr/>
          <p:nvPr/>
        </p:nvSpPr>
        <p:spPr>
          <a:xfrm>
            <a:off x="9418320" y="2011680"/>
            <a:ext cx="201168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55480" y="2148840"/>
            <a:ext cx="1737360" cy="1188720"/>
          </a:xfrm>
          <a:prstGeom prst="rect">
            <a:avLst/>
          </a:prstGeom>
          <a:noFill/>
        </p:spPr>
        <p:txBody>
          <a:bodyPr wrap="square">
            <a:spAutoFit/>
          </a:bodyPr>
          <a:lstStyle/>
          <a:p>
            <a:pPr>
              <a:spcAft>
                <a:spcPts val="800"/>
              </a:spcAft>
              <a:defRPr sz="1600" b="1">
                <a:solidFill>
                  <a:srgbClr val="002060"/>
                </a:solidFill>
                <a:latin typeface="Segoe UI"/>
              </a:defRPr>
            </a:pPr>
            <a:r>
              <a:t>4. Entra Connect Engine</a:t>
            </a:r>
          </a:p>
          <a:p>
            <a:pPr>
              <a:spcAft>
                <a:spcPts val="400"/>
              </a:spcAft>
              <a:defRPr sz="1200">
                <a:solidFill>
                  <a:srgbClr val="201F1E"/>
                </a:solidFill>
                <a:latin typeface="Segoe UI"/>
              </a:defRPr>
            </a:pPr>
            <a:r>
              <a:t>Sync engine detects AD changes</a:t>
            </a:r>
          </a:p>
        </p:txBody>
      </p:sp>
      <p:sp>
        <p:nvSpPr>
          <p:cNvPr id="13" name="Rounded Rectangle 12"/>
          <p:cNvSpPr/>
          <p:nvPr/>
        </p:nvSpPr>
        <p:spPr>
          <a:xfrm>
            <a:off x="2011680" y="4389120"/>
            <a:ext cx="237744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4526280"/>
            <a:ext cx="2103120" cy="1188720"/>
          </a:xfrm>
          <a:prstGeom prst="rect">
            <a:avLst/>
          </a:prstGeom>
          <a:noFill/>
        </p:spPr>
        <p:txBody>
          <a:bodyPr wrap="square">
            <a:spAutoFit/>
          </a:bodyPr>
          <a:lstStyle/>
          <a:p>
            <a:pPr>
              <a:spcAft>
                <a:spcPts val="800"/>
              </a:spcAft>
              <a:defRPr sz="1600" b="1">
                <a:solidFill>
                  <a:srgbClr val="002060"/>
                </a:solidFill>
                <a:latin typeface="Segoe UI"/>
              </a:defRPr>
            </a:pPr>
            <a:r>
              <a:t>5. M365 Entra ID</a:t>
            </a:r>
          </a:p>
          <a:p>
            <a:pPr>
              <a:spcAft>
                <a:spcPts val="400"/>
              </a:spcAft>
              <a:defRPr sz="1200">
                <a:solidFill>
                  <a:srgbClr val="201F1E"/>
                </a:solidFill>
                <a:latin typeface="Segoe UI"/>
              </a:defRPr>
            </a:pPr>
            <a:r>
              <a:t>Cloud directory synced</a:t>
            </a:r>
          </a:p>
        </p:txBody>
      </p:sp>
      <p:sp>
        <p:nvSpPr>
          <p:cNvPr id="15" name="Rounded Rectangle 14"/>
          <p:cNvSpPr/>
          <p:nvPr/>
        </p:nvSpPr>
        <p:spPr>
          <a:xfrm>
            <a:off x="5029200" y="4389120"/>
            <a:ext cx="237744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4526280"/>
            <a:ext cx="2103120" cy="1188720"/>
          </a:xfrm>
          <a:prstGeom prst="rect">
            <a:avLst/>
          </a:prstGeom>
          <a:noFill/>
        </p:spPr>
        <p:txBody>
          <a:bodyPr wrap="square">
            <a:spAutoFit/>
          </a:bodyPr>
          <a:lstStyle/>
          <a:p>
            <a:pPr>
              <a:spcAft>
                <a:spcPts val="800"/>
              </a:spcAft>
              <a:defRPr sz="1600" b="1">
                <a:solidFill>
                  <a:srgbClr val="002060"/>
                </a:solidFill>
                <a:latin typeface="Segoe UI"/>
              </a:defRPr>
            </a:pPr>
            <a:r>
              <a:t>6. M365 E5 Licenses</a:t>
            </a:r>
          </a:p>
          <a:p>
            <a:pPr>
              <a:spcAft>
                <a:spcPts val="400"/>
              </a:spcAft>
              <a:defRPr sz="1200">
                <a:solidFill>
                  <a:srgbClr val="201F1E"/>
                </a:solidFill>
                <a:latin typeface="Segoe UI"/>
              </a:defRPr>
            </a:pPr>
            <a:r>
              <a:t>Assign apps: Teams, Mail, OneDrive</a:t>
            </a:r>
          </a:p>
        </p:txBody>
      </p:sp>
      <p:sp>
        <p:nvSpPr>
          <p:cNvPr id="17" name="Rounded Rectangle 16"/>
          <p:cNvSpPr/>
          <p:nvPr/>
        </p:nvSpPr>
        <p:spPr>
          <a:xfrm>
            <a:off x="8046720" y="4389120"/>
            <a:ext cx="2194560" cy="146304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4526280"/>
            <a:ext cx="1920240" cy="1188720"/>
          </a:xfrm>
          <a:prstGeom prst="rect">
            <a:avLst/>
          </a:prstGeom>
          <a:noFill/>
        </p:spPr>
        <p:txBody>
          <a:bodyPr wrap="square">
            <a:spAutoFit/>
          </a:bodyPr>
          <a:lstStyle/>
          <a:p>
            <a:pPr>
              <a:spcAft>
                <a:spcPts val="800"/>
              </a:spcAft>
              <a:defRPr sz="1600" b="1">
                <a:solidFill>
                  <a:srgbClr val="002060"/>
                </a:solidFill>
                <a:latin typeface="Segoe UI"/>
              </a:defRPr>
            </a:pPr>
            <a:r>
              <a:t>7. Single Sign-On</a:t>
            </a:r>
          </a:p>
          <a:p>
            <a:pPr>
              <a:spcAft>
                <a:spcPts val="400"/>
              </a:spcAft>
              <a:defRPr sz="1200">
                <a:solidFill>
                  <a:srgbClr val="201F1E"/>
                </a:solidFill>
                <a:latin typeface="Segoe UI"/>
              </a:defRPr>
            </a:pPr>
            <a:r>
              <a:t>Login portal.office.com</a:t>
            </a:r>
          </a:p>
        </p:txBody>
      </p:sp>
      <p:sp>
        <p:nvSpPr>
          <p:cNvPr id="19" name="Right Arrow 18"/>
          <p:cNvSpPr/>
          <p:nvPr/>
        </p:nvSpPr>
        <p:spPr>
          <a:xfrm>
            <a:off x="2834640" y="2560320"/>
            <a:ext cx="45720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5852160" y="2560320"/>
            <a:ext cx="45720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8869680" y="2560320"/>
            <a:ext cx="45720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241280" y="3566160"/>
            <a:ext cx="365760" cy="731520"/>
          </a:xfrm>
          <a:prstGeom prst="down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4480560" y="4937760"/>
            <a:ext cx="45720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7498079" y="4937760"/>
            <a:ext cx="457200" cy="274320"/>
          </a:xfrm>
          <a:prstGeom prst="rightArrow">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eft Arrow 24"/>
          <p:cNvSpPr/>
          <p:nvPr/>
        </p:nvSpPr>
        <p:spPr>
          <a:xfrm>
            <a:off x="4480560" y="4389120"/>
            <a:ext cx="5669280" cy="274320"/>
          </a:xfrm>
          <a:prstGeom prst="leftArrow">
            <a:avLst/>
          </a:prstGeom>
          <a:solidFill>
            <a:srgbClr val="106EBE"/>
          </a:solidFill>
          <a:ln>
            <a:solidFill>
              <a:srgbClr val="106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Sync Push to Cloud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078D4"/>
                </a:solidFill>
                <a:latin typeface="Segoe UI"/>
              </a:defRPr>
            </a:pPr>
            <a:r>
              <a:t>SUMMARY</a:t>
            </a:r>
          </a:p>
        </p:txBody>
      </p:sp>
      <p:sp>
        <p:nvSpPr>
          <p:cNvPr id="3" name="TextBox 2"/>
          <p:cNvSpPr txBox="1"/>
          <p:nvPr/>
        </p:nvSpPr>
        <p:spPr>
          <a:xfrm>
            <a:off x="731520" y="548640"/>
            <a:ext cx="10698480" cy="731520"/>
          </a:xfrm>
          <a:prstGeom prst="rect">
            <a:avLst/>
          </a:prstGeom>
          <a:noFill/>
        </p:spPr>
        <p:txBody>
          <a:bodyPr wrap="square">
            <a:spAutoFit/>
          </a:bodyPr>
          <a:lstStyle/>
          <a:p>
            <a:pPr>
              <a:defRPr sz="3200" b="1">
                <a:solidFill>
                  <a:srgbClr val="002060"/>
                </a:solidFill>
                <a:latin typeface="Segoe UI"/>
              </a:defRPr>
            </a:pPr>
            <a:r>
              <a:t>Key Takeaways &amp; Conclusion</a:t>
            </a:r>
          </a:p>
        </p:txBody>
      </p:sp>
      <p:sp>
        <p:nvSpPr>
          <p:cNvPr id="4" name="Rectangle 3"/>
          <p:cNvSpPr/>
          <p:nvPr/>
        </p:nvSpPr>
        <p:spPr>
          <a:xfrm>
            <a:off x="731520" y="1280160"/>
            <a:ext cx="10728655" cy="27432"/>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201F1E"/>
                </a:solidFill>
                <a:latin typeface="Segoe UI"/>
              </a:defRPr>
            </a:pPr>
            <a:r>
              <a:rPr b="1">
                <a:solidFill>
                  <a:srgbClr val="002060"/>
                </a:solidFill>
                <a:latin typeface="Segoe UI"/>
              </a:rPr>
              <a:t>Unified credentials work locally and online.</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Entra Connect automates identity synchronization.</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Local directory management syncs automatically.</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Password Hash Sync secures cloud logins.</a:t>
            </a:r>
            <a:r>
              <a:rPr b="0">
                <a:solidFill>
                  <a:srgbClr val="201F1E"/>
                </a:solidFill>
                <a:latin typeface="Segoe UI"/>
              </a:rPr>
              <a:t/>
            </a:r>
          </a:p>
          <a:p>
            <a:pPr>
              <a:spcAft>
                <a:spcPts val="1000"/>
              </a:spcAft>
              <a:defRPr sz="1800">
                <a:solidFill>
                  <a:srgbClr val="201F1E"/>
                </a:solidFill>
                <a:latin typeface="Segoe UI"/>
              </a:defRPr>
            </a:pPr>
            <a:r>
              <a:rPr b="1">
                <a:solidFill>
                  <a:srgbClr val="002060"/>
                </a:solidFill>
                <a:latin typeface="Segoe UI"/>
              </a:rPr>
              <a:t>Cleartext passwords never reach the cloud.</a:t>
            </a:r>
            <a:r>
              <a:rPr b="0">
                <a:solidFill>
                  <a:srgbClr val="201F1E"/>
                </a:solidFill>
                <a:latin typeface="Segoe UI"/>
              </a:rPr>
              <a:t/>
            </a:r>
          </a:p>
          <a:p>
            <a:pPr/>
            <a:r>
              <a:rPr b="1">
                <a:solidFill>
                  <a:srgbClr val="002060"/>
                </a:solidFill>
                <a:latin typeface="Segoe UI"/>
              </a:rPr>
              <a:t>License assignment activates user cloud services.</a:t>
            </a:r>
          </a:p>
          <a:p>
            <a:pPr/>
            <a:r>
              <a:rPr b="1">
                <a:solidFill>
                  <a:srgbClr val="002060"/>
                </a:solidFill>
                <a:latin typeface="Segoe UI"/>
              </a:rPr>
              <a:t>Centralized control improves security and productivity.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TextBox 1"/>
          <p:cNvSpPr txBox="1"/>
          <p:nvPr/>
        </p:nvSpPr>
        <p:spPr>
          <a:xfrm>
            <a:off x="914400" y="1828800"/>
            <a:ext cx="10332720" cy="3657600"/>
          </a:xfrm>
          <a:prstGeom prst="rect">
            <a:avLst/>
          </a:prstGeom>
          <a:noFill/>
        </p:spPr>
        <p:txBody>
          <a:bodyPr wrap="square">
            <a:spAutoFit/>
          </a:bodyPr>
          <a:lstStyle/>
          <a:p>
            <a:pPr algn="ctr">
              <a:spcAft>
                <a:spcPts val="2400"/>
              </a:spcAft>
              <a:defRPr sz="5400" b="1">
                <a:solidFill>
                  <a:srgbClr val="FFFFFF"/>
                </a:solidFill>
                <a:latin typeface="Segoe UI"/>
              </a:defRPr>
            </a:pPr>
            <a:r>
              <a:t>Thank You!</a:t>
            </a:r>
          </a:p>
          <a:p>
            <a:pPr algn="ctr">
              <a:spcAft>
                <a:spcPts val="2000"/>
              </a:spcAft>
              <a:defRPr sz="2800">
                <a:solidFill>
                  <a:srgbClr val="A6D8FF"/>
                </a:solidFill>
                <a:latin typeface="Segoe UI"/>
              </a:defRPr>
            </a:pPr>
            <a:r>
              <a:t>Questions &amp; Answers</a:t>
            </a:r>
          </a:p>
          <a:p>
            <a:pPr algn="ctr">
              <a:defRPr sz="1400">
                <a:solidFill>
                  <a:srgbClr val="FFFFFF"/>
                </a:solidFill>
                <a:latin typeface="Segoe UI"/>
              </a:defRPr>
            </a:pPr>
            <a:r>
              <a:t>Topic: Hybrid Identity with Active Directory and Microsoft 365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